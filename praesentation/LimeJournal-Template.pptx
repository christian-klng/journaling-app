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54e4e002-8a50-358e-c44c-7786d509e0a9}">
          <p14:sldIdLst>
            <p14:sldId id="256"/>
            <p14:sldId id="257"/>
          </p14:sldIdLst>
        </p14:section>
        <p14:section name="Warum Reflexion" id="{9b503ac0-5565-0b0c-3e5e-5a1599797de0}">
          <p14:sldIdLst>
            <p14:sldId id="258"/>
            <p14:sldId id="259"/>
            <p14:sldId id="260"/>
            <p14:sldId id="261"/>
          </p14:sldIdLst>
        </p14:section>
        <p14:section name="LimeJournal" id="{927b25e0-7458-3501-5534-4fdf111e5b60}">
          <p14:sldIdLst>
            <p14:sldId id="262"/>
            <p14:sldId id="263"/>
            <p14:sldId id="264"/>
          </p14:sldIdLst>
        </p14:section>
        <p14:section name="Mitmachen" id="{ef6b74f3-b979-75fd-1db1-fa678074fa73}">
          <p14:sldIdLst>
            <p14:sldId id="265"/>
            <p14:sldId id="266"/>
          </p14:sldIdLst>
        </p14:section>
        <p14:section name="Vorlage" id="{bbc805af-1ea6-b769-466a-dee01bff90b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6708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67085"/>
                </a:solidFill>
                <a:latin typeface="+mn-lt"/>
              </a:rPr>
              <a:t>Energie pro Woche, Skala 1–5 (Beispieldaten)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Energie</c:v>
                </c:pt>
              </c:strCache>
            </c:strRef>
          </c:tx>
          <c:spPr>
            <a:solidFill>
              <a:srgbClr val="6FB337"/>
            </a:solidFill>
            <a:ln w="38100" cap="flat">
              <a:solidFill>
                <a:srgbClr val="6FB3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6FB337"/>
              </a:solidFill>
              <a:ln w="9525" cap="flat">
                <a:solidFill>
                  <a:srgbClr val="6FB3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3.5</c:v>
                </c:pt>
                <c:pt idx="2">
                  <c:v>2.5</c:v>
                </c:pt>
                <c:pt idx="3">
                  <c:v>3</c:v>
                </c:pt>
                <c:pt idx="4">
                  <c:v>4</c:v>
                </c:pt>
                <c:pt idx="5">
                  <c:v>3.5</c:v>
                </c:pt>
                <c:pt idx="6">
                  <c:v>4.5</c:v>
                </c:pt>
                <c:pt idx="7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E4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Titel“. Kicker, Titel (zweite Zeile in Akzent 2, dem Grün der App für Text) und Untertitel sind Platzhalter. Der Ring besteht aus zwei Blockbögen – Spur und Fortschritt – und lässt sich über den gelben Anfasser verlängern oder kürzen.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Inhalt“ mit vier Karten. Die aktive Karte ist zartgrün hinterlegt (Akzent 3) und zeigt ihre Nummer in Akzent 2. Für jede weitere Agenda-Folie die Hervorhebung verschieben.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Kapitel“. Der Ring zeigt den Fortschritt durch die Präsentation: bei vier Kapiteln 25 % pro Kapitel. Bogen über den gelben Anfasser anpassen, Zähler im Ring mitändern.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Statement“: eine Aussage pro Folie, der Kern in Akzent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Zwei Spalten“: zwei weiße Karten mit Überschrift und Text als Platzhalter. Die Icons in zartgrünen Kreisen liegen auf der Folie und lassen sich austauschen.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Inhalt“ mit Diagramm auf einer weißen Karte und Kommentarspalte. Die Werte sind Beispieldaten – vor dem Einsatz ersetzen oder klar als Beispiel kennzeichnen. Diagrammfarben: Linie Akzent 1, Raster Akzent 4, Achsenbeschriftung Text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Inhalt“ mit drei Karten wie in der App: weiß, feiner Rand, runde Ecken. Icons (Lucide) in zartgrünen Kreisen.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Bild rechts“. Rechts liegt ein Bildplatzhalter über der ganzen Hälfte: Bild hineinziehen, PowerPoint schneidet es passend zu. Ohne Bild bleibt die zartgrüne Fläche mit Limette und 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Inhalt“ mit drei Kennzahlen (72 pt, Akzent 2) auf Karten. Die Häufigkeit hängt von der Studie ab – „2× pro Woche“ vor dem Einsatz prüfen.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Inhalt“ als Prozess. Gefüllte Lime-Punkte für Pflichtschritte, der weiße Punkt mit Rand für einen optionalen Schritt – wie Haupt- und Nebenknopf in der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„LJ Abschluss“: volle Lime-Fläche wie der Startknopf der App, Text in Akzent 5. Der QR-Code führt auf https://limejournal.org und liegt auf einer weißen Karte.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Referenzfolie für die Vorlage – vor dem Präsentieren löschen. Die Farben stammen aus der App (src/app/globals.css) und liegen im Design (Entwurf › Varianten › Farben). Lime (#6FB337) ist auf hellem Grund als Schrift zu kontrastarm, darum steht farbiger Text immer in #3D7019.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LJ-Titel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J-Kapitel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Bas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5216"/>
            <a:ext cx="457200" cy="3382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93776"/>
            <a:ext cx="2743200" cy="44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LimeJournal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874520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cap="all"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cap="all" lang="en-US" sz="1300" b="1" spc="200" kern="0" dirty="0">
                <a:solidFill>
                  <a:schemeClr val="accent2"/>
                </a:solidFill>
              </a:rPr>
              <a:t>KICKER</a:t>
            </a:r>
            <a:endParaRPr cap="all" lang="en-US" sz="13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286000"/>
            <a:ext cx="67665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Titel der Präsentation</a:t>
            </a:r>
            <a:endParaRPr lang="en-US" sz="6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4663440"/>
            <a:ext cx="6217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Untertitel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Kap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" y="640080"/>
            <a:ext cx="502920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0000"/>
              </a:lnSpc>
              <a:buNone/>
              <a:defRPr lang="en-US" sz="200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lnSpc>
                <a:spcPct val="80000"/>
              </a:lnSpc>
              <a:buNone/>
            </a:pPr>
            <a:r>
              <a:rPr lang="en-US" sz="20000" b="1" dirty="0">
                <a:solidFill>
                  <a:schemeClr val="accent2"/>
                </a:solidFill>
              </a:rPr>
              <a:t>01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Kapitel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80060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Ein Satz, worum es in diesem Kapitel geht</a:t>
            </a:r>
            <a:endParaRPr lang="en-US" sz="2000" dirty="0"/>
          </a:p>
        </p:txBody>
      </p:sp>
      <p:pic>
        <p:nvPicPr>
          <p:cNvPr id="5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310896" cy="2299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50976" y="6254496"/>
            <a:ext cx="2743200" cy="33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LimeJournal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Statement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cap="all"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cap="all" lang="en-US" sz="1300" b="1" spc="200" kern="0" dirty="0">
                <a:solidFill>
                  <a:schemeClr val="accent2"/>
                </a:solidFill>
              </a:rPr>
              <a:t>KICKER</a:t>
            </a:r>
            <a:endParaRPr cap="all"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45920"/>
            <a:ext cx="1005840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5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chemeClr val="tx1"/>
                </a:solidFill>
              </a:rPr>
              <a:t>Eine klare Aussage in großer Schrift</a:t>
            </a:r>
            <a:endParaRPr lang="en-US" sz="5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84632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Quelle oder Einordnung</a:t>
            </a:r>
            <a:endParaRPr lang="en-US" sz="1800" dirty="0"/>
          </a:p>
        </p:txBody>
      </p:sp>
      <p:pic>
        <p:nvPicPr>
          <p:cNvPr id="5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310896" cy="2299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50976" y="6254496"/>
            <a:ext cx="2743200" cy="33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LimeJournal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Inhalt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cap="all"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cap="all" lang="en-US" sz="1300" b="1" spc="200" kern="0" dirty="0">
                <a:solidFill>
                  <a:schemeClr val="accent2"/>
                </a:solidFill>
              </a:rPr>
              <a:t>KICKER</a:t>
            </a:r>
            <a:endParaRPr cap="all"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Titel der Folie</a:t>
            </a:r>
            <a:endParaRPr lang="en-US" sz="3600" dirty="0"/>
          </a:p>
        </p:txBody>
      </p:sp>
      <p:pic>
        <p:nvPicPr>
          <p:cNvPr id="4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310896" cy="2299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50976" y="6254496"/>
            <a:ext cx="2743200" cy="33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LimeJournal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Zwei Spalten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cap="all"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cap="all" lang="en-US" sz="1300" b="1" spc="200" kern="0" dirty="0">
                <a:solidFill>
                  <a:schemeClr val="accent2"/>
                </a:solidFill>
              </a:rPr>
              <a:t>KICKER</a:t>
            </a:r>
            <a:endParaRPr cap="all"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Titel der Folie</a:t>
            </a: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1874520"/>
            <a:ext cx="5330952" cy="40690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914400" y="3017520"/>
            <a:ext cx="45994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Spalte</a:t>
            </a: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914400" y="3611880"/>
            <a:ext cx="4599432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Inhalt links</a:t>
            </a:r>
            <a:endParaRPr lang="en-US" sz="1700" dirty="0"/>
          </a:p>
        </p:txBody>
      </p:sp>
      <p:sp>
        <p:nvSpPr>
          <p:cNvPr id="7" name="Text 1"/>
          <p:cNvSpPr/>
          <p:nvPr/>
        </p:nvSpPr>
        <p:spPr>
          <a:xfrm>
            <a:off x="6312103" y="1874520"/>
            <a:ext cx="5330952" cy="40690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677863" y="3017520"/>
            <a:ext cx="45994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Spalte</a:t>
            </a:r>
            <a:endParaRPr lang="en-US" sz="24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6677863" y="3611880"/>
            <a:ext cx="4599432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Inhalt rechts</a:t>
            </a:r>
            <a:endParaRPr lang="en-US" sz="1700" dirty="0"/>
          </a:p>
        </p:txBody>
      </p:sp>
      <p:pic>
        <p:nvPicPr>
          <p:cNvPr id="10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310896" cy="22999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950976" y="6254496"/>
            <a:ext cx="2743200" cy="33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LimeJournal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Bild rechts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6E3"/>
          </a:solidFill>
          <a:ln/>
        </p:spPr>
      </p:sp>
      <p:pic>
        <p:nvPicPr>
          <p:cNvPr id="3" name="Image 0" descr="/private/tmp/claude-501/-Users-christianklang-Documents-GitHub-journaling-app/8b11f4dc-a1ad-412a-935e-f4856a6567a5/scratchpad/assets/rin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4971" y="1600200"/>
            <a:ext cx="3657600" cy="3657600"/>
          </a:xfrm>
          <a:prstGeom prst="rect">
            <a:avLst/>
          </a:prstGeom>
        </p:spPr>
      </p:pic>
      <p:pic>
        <p:nvPicPr>
          <p:cNvPr id="4" name="Image 1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491" y="2617269"/>
            <a:ext cx="2194560" cy="1623461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hasCustomPrompt="1"/>
          </p:nvPr>
        </p:nvSpPr>
        <p:spPr>
          <a:xfrm>
            <a:off x="6095848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Bild einfügen</a:t>
            </a:r>
            <a:endParaRPr lang="en-US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17320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cap="all"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cap="all" lang="en-US" sz="1300" b="1" spc="200" kern="0" dirty="0">
                <a:solidFill>
                  <a:schemeClr val="accent2"/>
                </a:solidFill>
              </a:rPr>
              <a:t>KICKER</a:t>
            </a:r>
            <a:endParaRPr cap="all" lang="en-US" sz="1300" dirty="0"/>
          </a:p>
        </p:txBody>
      </p:sp>
      <p:sp>
        <p:nvSpPr>
          <p:cNvPr id="7" name="Text 1"/>
          <p:cNvSpPr/>
          <p:nvPr>
            <p:ph idx="105" type="title" hasCustomPrompt="1"/>
          </p:nvPr>
        </p:nvSpPr>
        <p:spPr>
          <a:xfrm>
            <a:off x="548640" y="1828800"/>
            <a:ext cx="5029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Titel</a:t>
            </a:r>
            <a:endParaRPr lang="en-US" sz="44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548640" y="3657600"/>
            <a:ext cx="49377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Text</a:t>
            </a:r>
            <a:endParaRPr lang="en-US" sz="1700" dirty="0"/>
          </a:p>
        </p:txBody>
      </p:sp>
      <p:pic>
        <p:nvPicPr>
          <p:cNvPr id="9" name="Image 2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45936"/>
            <a:ext cx="310896" cy="22999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950976" y="6254496"/>
            <a:ext cx="2743200" cy="33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LimeJournal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632808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Abschluss">
    <p:bg>
      <p:bgPr>
        <a:solidFill>
          <a:srgbClr val="6FB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5216"/>
            <a:ext cx="457200" cy="3382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93776"/>
            <a:ext cx="2743200" cy="44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LimeJournal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783080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cap="all" lang="en-US" sz="1300" b="1" spc="200" kern="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cap="all" lang="en-US" sz="1300" b="1" spc="200" kern="0" dirty="0">
                <a:solidFill>
                  <a:schemeClr val="accent5"/>
                </a:solidFill>
              </a:rPr>
              <a:t>KICKER</a:t>
            </a:r>
            <a:endParaRPr cap="all" lang="en-US" sz="13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194560"/>
            <a:ext cx="7132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9600" b="1" dirty="0">
                <a:solidFill>
                  <a:schemeClr val="accent5"/>
                </a:solidFill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chemeClr val="accent5"/>
                </a:solidFill>
              </a:rPr>
              <a:t>Call to Action</a:t>
            </a:r>
            <a:endParaRPr lang="en-US" sz="9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406908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Was jetzt zu tun ist</a:t>
            </a:r>
            <a:endParaRPr lang="en-US" sz="2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48640" y="5166360"/>
            <a:ext cx="6217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limejournal.org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J Leer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hristianklang-Documents-GitHub-journaling-app/8b11f4dc-a1ad-412a-935e-f4856a6567a5/scratchpad/assets/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310896" cy="2299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" y="6254496"/>
            <a:ext cx="2743200" cy="33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LimeJournal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limejournal.org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8745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Einladung zur Studie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28600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Schau zurück.</a:t>
            </a:r>
            <a:endParaRPr lang="en-US" sz="6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accent2"/>
                </a:solidFill>
              </a:rPr>
              <a:t>Komm weiter.</a:t>
            </a:r>
            <a:endParaRPr lang="en-US" sz="6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6634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LimeJournal – dein Audio-Tagebuch für Studium, Projekte und Alltag</a:t>
            </a:r>
            <a:endParaRPr lang="en-US" sz="2000" dirty="0"/>
          </a:p>
        </p:txBody>
      </p:sp>
      <p:sp>
        <p:nvSpPr>
          <p:cNvPr id="5" name="Titel-Ring Spur"/>
          <p:cNvSpPr/>
          <p:nvPr/>
        </p:nvSpPr>
        <p:spPr>
          <a:xfrm>
            <a:off x="7818120" y="1325880"/>
            <a:ext cx="3931920" cy="3931920"/>
          </a:xfrm>
          <a:prstGeom prst="blockArc">
            <a:avLst>
              <a:gd name="adj1" fmla="val 0"/>
              <a:gd name="adj2" fmla="val 21594000"/>
              <a:gd name="adj3" fmla="val 4000"/>
            </a:avLst>
          </a:prstGeom>
          <a:solidFill>
            <a:schemeClr val="bg2"/>
          </a:solidFill>
          <a:ln/>
        </p:spPr>
      </p:sp>
      <p:sp>
        <p:nvSpPr>
          <p:cNvPr id="6" name="Titel-Ring Fortschritt"/>
          <p:cNvSpPr/>
          <p:nvPr/>
        </p:nvSpPr>
        <p:spPr>
          <a:xfrm>
            <a:off x="7818120" y="1325880"/>
            <a:ext cx="3931920" cy="3931920"/>
          </a:xfrm>
          <a:prstGeom prst="blockArc">
            <a:avLst>
              <a:gd name="adj1" fmla="val 16200000"/>
              <a:gd name="adj2" fmla="val 10800000"/>
              <a:gd name="adj3" fmla="val 4000"/>
            </a:avLst>
          </a:prstGeom>
          <a:solidFill>
            <a:schemeClr val="accent1"/>
          </a:solidFill>
          <a:ln/>
        </p:spPr>
      </p:sp>
      <p:pic>
        <p:nvPicPr>
          <p:cNvPr id="7" name="Limette" descr="LimeJournal-Logo: Limettenschei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513932"/>
            <a:ext cx="2103120" cy="15558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Überblick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Darum geht's heute</a:t>
            </a:r>
            <a:endParaRPr lang="en-US" sz="3600" dirty="0"/>
          </a:p>
        </p:txBody>
      </p:sp>
      <p:sp>
        <p:nvSpPr>
          <p:cNvPr id="4" name="Agenda 01 Karte"/>
          <p:cNvSpPr/>
          <p:nvPr/>
        </p:nvSpPr>
        <p:spPr>
          <a:xfrm>
            <a:off x="548640" y="1874520"/>
            <a:ext cx="2567864" cy="4069080"/>
          </a:xfrm>
          <a:prstGeom prst="roundRect">
            <a:avLst>
              <a:gd name="adj" fmla="val 6410"/>
            </a:avLst>
          </a:prstGeom>
          <a:solidFill>
            <a:schemeClr val="accent3"/>
          </a:solidFill>
          <a:ln/>
        </p:spPr>
      </p:sp>
      <p:sp>
        <p:nvSpPr>
          <p:cNvPr id="5" name="Agenda 01 Nummer"/>
          <p:cNvSpPr txBox="1"/>
          <p:nvPr/>
        </p:nvSpPr>
        <p:spPr>
          <a:xfrm>
            <a:off x="868680" y="219456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01</a:t>
            </a:r>
            <a:endParaRPr lang="en-US" sz="4800" dirty="0"/>
          </a:p>
        </p:txBody>
      </p:sp>
      <p:sp>
        <p:nvSpPr>
          <p:cNvPr id="6" name="Agenda 01 Titel"/>
          <p:cNvSpPr txBox="1"/>
          <p:nvPr/>
        </p:nvSpPr>
        <p:spPr>
          <a:xfrm>
            <a:off x="868680" y="37033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Warum Reflexion</a:t>
            </a:r>
            <a:endParaRPr lang="en-US" sz="2200" dirty="0"/>
          </a:p>
        </p:txBody>
      </p:sp>
      <p:sp>
        <p:nvSpPr>
          <p:cNvPr id="7" name="Agenda 01 Text"/>
          <p:cNvSpPr txBox="1"/>
          <p:nvPr/>
        </p:nvSpPr>
        <p:spPr>
          <a:xfrm>
            <a:off x="868680" y="457200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Was Profis im Sport und im Job anders machen</a:t>
            </a:r>
            <a:endParaRPr lang="en-US" sz="1500" dirty="0"/>
          </a:p>
        </p:txBody>
      </p:sp>
      <p:sp>
        <p:nvSpPr>
          <p:cNvPr id="8" name="Agenda 02 Karte"/>
          <p:cNvSpPr/>
          <p:nvPr/>
        </p:nvSpPr>
        <p:spPr>
          <a:xfrm>
            <a:off x="3390824" y="1874520"/>
            <a:ext cx="2567864" cy="406908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Agenda 02 Nummer"/>
          <p:cNvSpPr txBox="1"/>
          <p:nvPr/>
        </p:nvSpPr>
        <p:spPr>
          <a:xfrm>
            <a:off x="3710864" y="219456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02</a:t>
            </a:r>
            <a:endParaRPr lang="en-US" sz="4800" dirty="0"/>
          </a:p>
        </p:txBody>
      </p:sp>
      <p:sp>
        <p:nvSpPr>
          <p:cNvPr id="10" name="Agenda 02 Titel"/>
          <p:cNvSpPr txBox="1"/>
          <p:nvPr/>
        </p:nvSpPr>
        <p:spPr>
          <a:xfrm>
            <a:off x="3710864" y="37033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LimeJournal</a:t>
            </a:r>
            <a:endParaRPr lang="en-US" sz="2200" dirty="0"/>
          </a:p>
        </p:txBody>
      </p:sp>
      <p:sp>
        <p:nvSpPr>
          <p:cNvPr id="11" name="Agenda 02 Text"/>
          <p:cNvSpPr txBox="1"/>
          <p:nvPr/>
        </p:nvSpPr>
        <p:spPr>
          <a:xfrm>
            <a:off x="3710864" y="457200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Wie die App funktioniert</a:t>
            </a:r>
            <a:endParaRPr lang="en-US" sz="1500" dirty="0"/>
          </a:p>
        </p:txBody>
      </p:sp>
      <p:sp>
        <p:nvSpPr>
          <p:cNvPr id="12" name="Agenda 03 Karte"/>
          <p:cNvSpPr/>
          <p:nvPr/>
        </p:nvSpPr>
        <p:spPr>
          <a:xfrm>
            <a:off x="6233008" y="1874520"/>
            <a:ext cx="2567864" cy="406908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Agenda 03 Nummer"/>
          <p:cNvSpPr txBox="1"/>
          <p:nvPr/>
        </p:nvSpPr>
        <p:spPr>
          <a:xfrm>
            <a:off x="6553048" y="219456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03</a:t>
            </a:r>
            <a:endParaRPr lang="en-US" sz="4800" dirty="0"/>
          </a:p>
        </p:txBody>
      </p:sp>
      <p:sp>
        <p:nvSpPr>
          <p:cNvPr id="14" name="Agenda 03 Titel"/>
          <p:cNvSpPr txBox="1"/>
          <p:nvPr/>
        </p:nvSpPr>
        <p:spPr>
          <a:xfrm>
            <a:off x="6553048" y="37033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Deine Teilnahme</a:t>
            </a:r>
            <a:endParaRPr lang="en-US" sz="2200" dirty="0"/>
          </a:p>
        </p:txBody>
      </p:sp>
      <p:sp>
        <p:nvSpPr>
          <p:cNvPr id="15" name="Agenda 03 Text"/>
          <p:cNvSpPr txBox="1"/>
          <p:nvPr/>
        </p:nvSpPr>
        <p:spPr>
          <a:xfrm>
            <a:off x="6553048" y="457200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 vier Schritten dabei</a:t>
            </a:r>
            <a:endParaRPr lang="en-US" sz="1500" dirty="0"/>
          </a:p>
        </p:txBody>
      </p:sp>
      <p:sp>
        <p:nvSpPr>
          <p:cNvPr id="16" name="Agenda 04 Karte"/>
          <p:cNvSpPr/>
          <p:nvPr/>
        </p:nvSpPr>
        <p:spPr>
          <a:xfrm>
            <a:off x="9075191" y="1874520"/>
            <a:ext cx="2567864" cy="406908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Agenda 04 Nummer"/>
          <p:cNvSpPr txBox="1"/>
          <p:nvPr/>
        </p:nvSpPr>
        <p:spPr>
          <a:xfrm>
            <a:off x="9395231" y="219456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04</a:t>
            </a:r>
            <a:endParaRPr lang="en-US" sz="4800" dirty="0"/>
          </a:p>
        </p:txBody>
      </p:sp>
      <p:sp>
        <p:nvSpPr>
          <p:cNvPr id="18" name="Agenda 04 Titel"/>
          <p:cNvSpPr txBox="1"/>
          <p:nvPr/>
        </p:nvSpPr>
        <p:spPr>
          <a:xfrm>
            <a:off x="9395231" y="37033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Deine Daten</a:t>
            </a:r>
            <a:endParaRPr lang="en-US" sz="2200" dirty="0"/>
          </a:p>
        </p:txBody>
      </p:sp>
      <p:sp>
        <p:nvSpPr>
          <p:cNvPr id="19" name="Agenda 04 Text"/>
          <p:cNvSpPr txBox="1"/>
          <p:nvPr/>
        </p:nvSpPr>
        <p:spPr>
          <a:xfrm>
            <a:off x="9395231" y="457200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Anonym, freiwillig, jederzeit löschbar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" y="6400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0" b="1" dirty="0">
                <a:solidFill>
                  <a:schemeClr val="accent2"/>
                </a:solidFill>
              </a:rPr>
              <a:t>01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931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Warum Reflexion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800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Spitzensportler schauen sich jedes Spiel noch einmal an. Du kannst das auch – mit deinem Alltag.</a:t>
            </a:r>
            <a:endParaRPr lang="en-US" sz="2000" dirty="0"/>
          </a:p>
        </p:txBody>
      </p:sp>
      <p:sp>
        <p:nvSpPr>
          <p:cNvPr id="5" name="Kapitel-Ring Spur"/>
          <p:cNvSpPr/>
          <p:nvPr/>
        </p:nvSpPr>
        <p:spPr>
          <a:xfrm>
            <a:off x="8732520" y="914400"/>
            <a:ext cx="2651760" cy="2651760"/>
          </a:xfrm>
          <a:prstGeom prst="blockArc">
            <a:avLst>
              <a:gd name="adj1" fmla="val 0"/>
              <a:gd name="adj2" fmla="val 21594000"/>
              <a:gd name="adj3" fmla="val 5000"/>
            </a:avLst>
          </a:prstGeom>
          <a:solidFill>
            <a:schemeClr val="bg2"/>
          </a:solidFill>
          <a:ln/>
        </p:spPr>
      </p:sp>
      <p:sp>
        <p:nvSpPr>
          <p:cNvPr id="6" name="Kapitel-Ring Fortschritt"/>
          <p:cNvSpPr/>
          <p:nvPr/>
        </p:nvSpPr>
        <p:spPr>
          <a:xfrm>
            <a:off x="8732520" y="914400"/>
            <a:ext cx="2651760" cy="2651760"/>
          </a:xfrm>
          <a:prstGeom prst="blockArc">
            <a:avLst>
              <a:gd name="adj1" fmla="val 16200000"/>
              <a:gd name="adj2" fmla="val 0"/>
              <a:gd name="adj3" fmla="val 5000"/>
            </a:avLst>
          </a:prstGeom>
          <a:solidFill>
            <a:schemeClr val="accent1"/>
          </a:solidFill>
          <a:ln/>
        </p:spPr>
      </p:sp>
      <p:sp>
        <p:nvSpPr>
          <p:cNvPr id="7" name="Kapitel-Zähler"/>
          <p:cNvSpPr txBox="1"/>
          <p:nvPr/>
        </p:nvSpPr>
        <p:spPr>
          <a:xfrm>
            <a:off x="8732520" y="9144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 / 4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Der Kern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45920"/>
            <a:ext cx="10058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chemeClr val="tx1"/>
                </a:solidFill>
              </a:rPr>
              <a:t>Erfahrung allein macht dich nicht besser. </a:t>
            </a:r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chemeClr val="accent2"/>
                </a:solidFill>
              </a:rPr>
              <a:t>Der Blick zurück schon.</a:t>
            </a:r>
            <a:endParaRPr lang="en-US" sz="5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846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Lernen entsteht, wenn du Erlebtes einordnest – nicht schon beim Erleben.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Reflexivität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Wirkt im Studium, im Job und im Leben</a:t>
            </a:r>
            <a:endParaRPr lang="en-US" sz="3600" dirty="0"/>
          </a:p>
        </p:txBody>
      </p:sp>
      <p:sp>
        <p:nvSpPr>
          <p:cNvPr id="4" name="Icon links Kreis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 lin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354580"/>
            <a:ext cx="320040" cy="320040"/>
          </a:xfrm>
          <a:prstGeom prst="rect">
            <a:avLst/>
          </a:prstGeom>
        </p:spPr>
      </p:pic>
      <p:sp>
        <p:nvSpPr>
          <p:cNvPr id="6" name="Icon rechts Kreis"/>
          <p:cNvSpPr/>
          <p:nvPr/>
        </p:nvSpPr>
        <p:spPr>
          <a:xfrm>
            <a:off x="6677863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rech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883" y="2354580"/>
            <a:ext cx="320040" cy="320040"/>
          </a:xfrm>
          <a:prstGeom prst="rect">
            <a:avLst/>
          </a:prstGeom>
        </p:spPr>
      </p:pic>
      <p:sp>
        <p:nvSpPr>
          <p:cNvPr id="8" name="Text 1"/>
          <p:cNvSpPr/>
          <p:nvPr>
            <p:ph idx="103" type="body" hasCustomPrompt="1"/>
          </p:nvPr>
        </p:nvSpPr>
        <p:spPr>
          <a:xfrm>
            <a:off x="914400" y="301752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Studium und Beruf</a:t>
            </a:r>
            <a:endParaRPr lang="en-US" sz="2400" dirty="0"/>
          </a:p>
        </p:txBody>
      </p:sp>
      <p:sp>
        <p:nvSpPr>
          <p:cNvPr id="9" name="Text 1"/>
          <p:cNvSpPr/>
          <p:nvPr>
            <p:ph idx="104" type="body" hasCustomPrompt="1"/>
          </p:nvPr>
        </p:nvSpPr>
        <p:spPr>
          <a:xfrm>
            <a:off x="914400" y="3611880"/>
            <a:ext cx="45994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Entscheidungen bewusster treffen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Aus Rückschlägen schneller lernen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Feedback besser einordnen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 Team klarer kommunizieren</a:t>
            </a:r>
            <a:endParaRPr lang="en-US" sz="1700" dirty="0"/>
          </a:p>
        </p:txBody>
      </p:sp>
      <p:sp>
        <p:nvSpPr>
          <p:cNvPr id="10" name="Text 2"/>
          <p:cNvSpPr/>
          <p:nvPr>
            <p:ph idx="106" type="body" hasCustomPrompt="1"/>
          </p:nvPr>
        </p:nvSpPr>
        <p:spPr>
          <a:xfrm>
            <a:off x="6677863" y="301752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Privatleben</a:t>
            </a:r>
            <a:endParaRPr lang="en-US" sz="2400" dirty="0"/>
          </a:p>
        </p:txBody>
      </p:sp>
      <p:sp>
        <p:nvSpPr>
          <p:cNvPr id="11" name="Text 2"/>
          <p:cNvSpPr/>
          <p:nvPr>
            <p:ph idx="107" type="body" hasCustomPrompt="1"/>
          </p:nvPr>
        </p:nvSpPr>
        <p:spPr>
          <a:xfrm>
            <a:off x="6677863" y="3611880"/>
            <a:ext cx="45994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Stress früher bemerken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Gewohnheiten sichtbar machen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Fortschritte wahrnehmen und feiern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Wissen, was dir guttut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Muster erkennen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Was die Wochen zeigen</a:t>
            </a:r>
            <a:endParaRPr lang="en-US" sz="3600" dirty="0"/>
          </a:p>
        </p:txBody>
      </p:sp>
      <p:sp>
        <p:nvSpPr>
          <p:cNvPr id="4" name="Diagramm Karte"/>
          <p:cNvSpPr/>
          <p:nvPr/>
        </p:nvSpPr>
        <p:spPr>
          <a:xfrm>
            <a:off x="548640" y="1874520"/>
            <a:ext cx="7406640" cy="4069080"/>
          </a:xfrm>
          <a:prstGeom prst="roundRect">
            <a:avLst>
              <a:gd name="adj" fmla="val 404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graphicFrame>
        <p:nvGraphicFramePr>
          <p:cNvPr id="5" name="Diagramm Energie" descr=""/>
          <p:cNvGraphicFramePr/>
          <p:nvPr/>
        </p:nvGraphicFramePr>
        <p:xfrm>
          <a:off x="777240" y="205740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nnzahl"/>
          <p:cNvSpPr txBox="1"/>
          <p:nvPr/>
        </p:nvSpPr>
        <p:spPr>
          <a:xfrm>
            <a:off x="8321040" y="1965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+1,0</a:t>
            </a:r>
            <a:endParaRPr lang="en-US" sz="7200" dirty="0"/>
          </a:p>
        </p:txBody>
      </p:sp>
      <p:sp>
        <p:nvSpPr>
          <p:cNvPr id="7" name="Kennzahl Text"/>
          <p:cNvSpPr txBox="1"/>
          <p:nvPr/>
        </p:nvSpPr>
        <p:spPr>
          <a:xfrm>
            <a:off x="832104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Punkte mehr Energie nach acht Wochen</a:t>
            </a:r>
            <a:endParaRPr lang="en-US" sz="1700" dirty="0"/>
          </a:p>
        </p:txBody>
      </p:sp>
      <p:sp>
        <p:nvSpPr>
          <p:cNvPr id="8" name="Kommentar"/>
          <p:cNvSpPr txBox="1"/>
          <p:nvPr/>
        </p:nvSpPr>
        <p:spPr>
          <a:xfrm>
            <a:off x="8321040" y="3977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Wer regelmäßig zurückblickt, sieht Muster: Welche Wochen dir Kraft geben und welche dich ausbremsen.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Die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 funktioniert LimeJournal</a:t>
            </a:r>
            <a:endParaRPr lang="en-US" sz="3600" dirty="0"/>
          </a:p>
        </p:txBody>
      </p:sp>
      <p:sp>
        <p:nvSpPr>
          <p:cNvPr id="4" name="Schritt 01 Karte"/>
          <p:cNvSpPr/>
          <p:nvPr/>
        </p:nvSpPr>
        <p:spPr>
          <a:xfrm>
            <a:off x="548640" y="1874520"/>
            <a:ext cx="3515258" cy="40690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chritt 01 Icon Kreis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Schritt 0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46020"/>
            <a:ext cx="411480" cy="411480"/>
          </a:xfrm>
          <a:prstGeom prst="rect">
            <a:avLst/>
          </a:prstGeom>
        </p:spPr>
      </p:pic>
      <p:sp>
        <p:nvSpPr>
          <p:cNvPr id="7" name="Schritt 01 Nummer"/>
          <p:cNvSpPr txBox="1"/>
          <p:nvPr/>
        </p:nvSpPr>
        <p:spPr>
          <a:xfrm>
            <a:off x="2783738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Schritt 01 Titel"/>
          <p:cNvSpPr txBox="1"/>
          <p:nvPr/>
        </p:nvSpPr>
        <p:spPr>
          <a:xfrm>
            <a:off x="914400" y="347472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Registrieren</a:t>
            </a:r>
            <a:endParaRPr lang="en-US" sz="2600" dirty="0"/>
          </a:p>
        </p:txBody>
      </p:sp>
      <p:sp>
        <p:nvSpPr>
          <p:cNvPr id="9" name="Schritt 01 Text"/>
          <p:cNvSpPr txBox="1"/>
          <p:nvPr/>
        </p:nvSpPr>
        <p:spPr>
          <a:xfrm>
            <a:off x="914400" y="406908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Mit Passwort und persönlichem Code. Keine E-Mail, kein echter Name – du bekommst einen Fantasienamen.</a:t>
            </a:r>
            <a:endParaRPr lang="en-US" sz="1600" dirty="0"/>
          </a:p>
        </p:txBody>
      </p:sp>
      <p:sp>
        <p:nvSpPr>
          <p:cNvPr id="10" name="Schritt 02 Karte"/>
          <p:cNvSpPr/>
          <p:nvPr/>
        </p:nvSpPr>
        <p:spPr>
          <a:xfrm>
            <a:off x="4338218" y="1874520"/>
            <a:ext cx="3515258" cy="40690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chritt 02 Icon Kreis"/>
          <p:cNvSpPr/>
          <p:nvPr/>
        </p:nvSpPr>
        <p:spPr>
          <a:xfrm>
            <a:off x="4703978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Schritt 0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18" y="2446020"/>
            <a:ext cx="411480" cy="411480"/>
          </a:xfrm>
          <a:prstGeom prst="rect">
            <a:avLst/>
          </a:prstGeom>
        </p:spPr>
      </p:pic>
      <p:sp>
        <p:nvSpPr>
          <p:cNvPr id="13" name="Schritt 02 Nummer"/>
          <p:cNvSpPr txBox="1"/>
          <p:nvPr/>
        </p:nvSpPr>
        <p:spPr>
          <a:xfrm>
            <a:off x="6573317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Schritt 02 Titel"/>
          <p:cNvSpPr txBox="1"/>
          <p:nvPr/>
        </p:nvSpPr>
        <p:spPr>
          <a:xfrm>
            <a:off x="4703978" y="347472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Antworten</a:t>
            </a:r>
            <a:endParaRPr lang="en-US" sz="2600" dirty="0"/>
          </a:p>
        </p:txBody>
      </p:sp>
      <p:sp>
        <p:nvSpPr>
          <p:cNvPr id="15" name="Schritt 02 Text"/>
          <p:cNvSpPr txBox="1"/>
          <p:nvPr/>
        </p:nvSpPr>
        <p:spPr>
          <a:xfrm>
            <a:off x="4703978" y="406908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Jede Woche ein paar Fragen: Skala antippen, dann einfach erzählen statt tippen.</a:t>
            </a:r>
            <a:endParaRPr lang="en-US" sz="1600" dirty="0"/>
          </a:p>
        </p:txBody>
      </p:sp>
      <p:sp>
        <p:nvSpPr>
          <p:cNvPr id="16" name="Schritt 03 Karte"/>
          <p:cNvSpPr/>
          <p:nvPr/>
        </p:nvSpPr>
        <p:spPr>
          <a:xfrm>
            <a:off x="8127797" y="1874520"/>
            <a:ext cx="3515258" cy="40690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chritt 03 Icon Kreis"/>
          <p:cNvSpPr/>
          <p:nvPr/>
        </p:nvSpPr>
        <p:spPr>
          <a:xfrm>
            <a:off x="8493557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Schritt 0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97" y="2446020"/>
            <a:ext cx="411480" cy="411480"/>
          </a:xfrm>
          <a:prstGeom prst="rect">
            <a:avLst/>
          </a:prstGeom>
        </p:spPr>
      </p:pic>
      <p:sp>
        <p:nvSpPr>
          <p:cNvPr id="19" name="Schritt 03 Nummer"/>
          <p:cNvSpPr txBox="1"/>
          <p:nvPr/>
        </p:nvSpPr>
        <p:spPr>
          <a:xfrm>
            <a:off x="10362895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Schritt 03 Titel"/>
          <p:cNvSpPr txBox="1"/>
          <p:nvPr/>
        </p:nvSpPr>
        <p:spPr>
          <a:xfrm>
            <a:off x="8493557" y="347472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Zurückblicken</a:t>
            </a:r>
            <a:endParaRPr lang="en-US" sz="2600" dirty="0"/>
          </a:p>
        </p:txBody>
      </p:sp>
      <p:sp>
        <p:nvSpPr>
          <p:cNvPr id="21" name="Schritt 03 Text"/>
          <p:cNvSpPr txBox="1"/>
          <p:nvPr/>
        </p:nvSpPr>
        <p:spPr>
          <a:xfrm>
            <a:off x="8493557" y="406908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Alle Einträge mit Aufnahmen und Transkripten jederzeit wieder ansehen.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1417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Audio-Tagebuch</a:t>
            </a:r>
            <a:endParaRPr lang="en-US" sz="13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18288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Sprechen statt schreiben</a:t>
            </a:r>
            <a:endParaRPr lang="en-US" sz="44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3657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Mikro antippen und erzählen – auf dem Heimweg, nach dem Training, zwischen zwei Vorlesungen.</a:t>
            </a:r>
            <a:endParaRPr lang="en-US" sz="17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LimeJournal kann daraus ein Transkript machen, das du später nachlesen kannst.</a:t>
            </a:r>
            <a:endParaRPr lang="en-US" sz="1700" dirty="0"/>
          </a:p>
        </p:txBody>
      </p:sp>
      <p:sp>
        <p:nvSpPr>
          <p:cNvPr id="6" name="Text 1"/>
          <p:cNvSpPr/>
          <p:nvPr>
            <p:ph idx="103" hasCustomPrompt="1"/>
          </p:nvPr>
        </p:nvSpPr>
        <p:spPr>
          <a:xfrm>
            <a:off x="6095848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632808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Auf einen Blick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Wenig Aufwand, viel Wirkung</a:t>
            </a:r>
            <a:endParaRPr lang="en-US" sz="3600" dirty="0"/>
          </a:p>
        </p:txBody>
      </p:sp>
      <p:sp>
        <p:nvSpPr>
          <p:cNvPr id="4" name="Kennzahl 1 Karte"/>
          <p:cNvSpPr/>
          <p:nvPr/>
        </p:nvSpPr>
        <p:spPr>
          <a:xfrm>
            <a:off x="548640" y="1874520"/>
            <a:ext cx="3515258" cy="40690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Kennzahl 1"/>
          <p:cNvSpPr txBox="1"/>
          <p:nvPr/>
        </p:nvSpPr>
        <p:spPr>
          <a:xfrm>
            <a:off x="914400" y="224028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2×</a:t>
            </a:r>
            <a:endParaRPr lang="en-US" sz="7200" dirty="0"/>
          </a:p>
        </p:txBody>
      </p:sp>
      <p:sp>
        <p:nvSpPr>
          <p:cNvPr id="6" name="Kennzahl 1 Text"/>
          <p:cNvSpPr txBox="1"/>
          <p:nvPr/>
        </p:nvSpPr>
        <p:spPr>
          <a:xfrm>
            <a:off x="914400" y="40690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 Woche, zum Beispiel ein Check-In und ein Check-Out</a:t>
            </a:r>
            <a:endParaRPr lang="en-US" sz="1700" dirty="0"/>
          </a:p>
        </p:txBody>
      </p:sp>
      <p:sp>
        <p:nvSpPr>
          <p:cNvPr id="7" name="Kennzahl 2 Karte"/>
          <p:cNvSpPr/>
          <p:nvPr/>
        </p:nvSpPr>
        <p:spPr>
          <a:xfrm>
            <a:off x="4338218" y="1874520"/>
            <a:ext cx="3515258" cy="40690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Kennzahl 2"/>
          <p:cNvSpPr txBox="1"/>
          <p:nvPr/>
        </p:nvSpPr>
        <p:spPr>
          <a:xfrm>
            <a:off x="4703978" y="224028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</a:t>
            </a:r>
            <a:endParaRPr lang="en-US" sz="7200" dirty="0"/>
          </a:p>
        </p:txBody>
      </p:sp>
      <p:sp>
        <p:nvSpPr>
          <p:cNvPr id="9" name="Kennzahl 2 Text"/>
          <p:cNvSpPr txBox="1"/>
          <p:nvPr/>
        </p:nvSpPr>
        <p:spPr>
          <a:xfrm>
            <a:off x="4703978" y="40690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E-Mail-Adressen oder echte Namen gespeichert</a:t>
            </a:r>
            <a:endParaRPr lang="en-US" sz="1700" dirty="0"/>
          </a:p>
        </p:txBody>
      </p:sp>
      <p:sp>
        <p:nvSpPr>
          <p:cNvPr id="10" name="Kennzahl 3 Karte"/>
          <p:cNvSpPr/>
          <p:nvPr/>
        </p:nvSpPr>
        <p:spPr>
          <a:xfrm>
            <a:off x="8127797" y="1874520"/>
            <a:ext cx="3515258" cy="40690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Kennzahl 3"/>
          <p:cNvSpPr txBox="1"/>
          <p:nvPr/>
        </p:nvSpPr>
        <p:spPr>
          <a:xfrm>
            <a:off x="8493557" y="2240280"/>
            <a:ext cx="2783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100%</a:t>
            </a:r>
            <a:endParaRPr lang="en-US" sz="7200" dirty="0"/>
          </a:p>
        </p:txBody>
      </p:sp>
      <p:sp>
        <p:nvSpPr>
          <p:cNvPr id="12" name="Kennzahl 3 Text"/>
          <p:cNvSpPr txBox="1"/>
          <p:nvPr/>
        </p:nvSpPr>
        <p:spPr>
          <a:xfrm>
            <a:off x="8493557" y="40690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freiwillig – du kannst jederzeit aussteigen, deine Daten sind dann sofort gelöscht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Deine Teilnahme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vier Schritten dabei</a:t>
            </a:r>
            <a:endParaRPr lang="en-US" sz="3600" dirty="0"/>
          </a:p>
        </p:txBody>
      </p:sp>
      <p:sp>
        <p:nvSpPr>
          <p:cNvPr id="4" name="Verbindungslinie"/>
          <p:cNvSpPr/>
          <p:nvPr/>
        </p:nvSpPr>
        <p:spPr>
          <a:xfrm>
            <a:off x="914400" y="2651760"/>
            <a:ext cx="8526551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Schritt 1 Punkt"/>
          <p:cNvSpPr/>
          <p:nvPr/>
        </p:nvSpPr>
        <p:spPr>
          <a:xfrm>
            <a:off x="548640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chritt 1 Zahl"/>
          <p:cNvSpPr txBox="1"/>
          <p:nvPr/>
        </p:nvSpPr>
        <p:spPr>
          <a:xfrm>
            <a:off x="5486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chritt 1 Titel"/>
          <p:cNvSpPr txBox="1"/>
          <p:nvPr/>
        </p:nvSpPr>
        <p:spPr>
          <a:xfrm>
            <a:off x="548640" y="3337560"/>
            <a:ext cx="2384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Registrieren</a:t>
            </a:r>
            <a:endParaRPr lang="en-US" sz="2200" dirty="0"/>
          </a:p>
        </p:txBody>
      </p:sp>
      <p:sp>
        <p:nvSpPr>
          <p:cNvPr id="8" name="Schritt 1 Text"/>
          <p:cNvSpPr txBox="1"/>
          <p:nvPr/>
        </p:nvSpPr>
        <p:spPr>
          <a:xfrm>
            <a:off x="548640" y="420624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Passwort wählen und deinen persönlichen Code bilden</a:t>
            </a:r>
            <a:endParaRPr lang="en-US" sz="1500" dirty="0"/>
          </a:p>
        </p:txBody>
      </p:sp>
      <p:sp>
        <p:nvSpPr>
          <p:cNvPr id="9" name="Schritt 2 Punkt"/>
          <p:cNvSpPr/>
          <p:nvPr/>
        </p:nvSpPr>
        <p:spPr>
          <a:xfrm>
            <a:off x="3390824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chritt 2 Zahl"/>
          <p:cNvSpPr txBox="1"/>
          <p:nvPr/>
        </p:nvSpPr>
        <p:spPr>
          <a:xfrm>
            <a:off x="339082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chritt 2 Titel"/>
          <p:cNvSpPr txBox="1"/>
          <p:nvPr/>
        </p:nvSpPr>
        <p:spPr>
          <a:xfrm>
            <a:off x="3390824" y="3337560"/>
            <a:ext cx="2384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Gruppe eintragen</a:t>
            </a:r>
            <a:endParaRPr lang="en-US" sz="2200" dirty="0"/>
          </a:p>
        </p:txBody>
      </p:sp>
      <p:sp>
        <p:nvSpPr>
          <p:cNvPr id="12" name="Schritt 2 Text"/>
          <p:cNvSpPr txBox="1"/>
          <p:nvPr/>
        </p:nvSpPr>
        <p:spPr>
          <a:xfrm>
            <a:off x="3390824" y="420624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Sobald du sie kennst, unter „Code und Gruppe“</a:t>
            </a:r>
            <a:endParaRPr lang="en-US" sz="1500" dirty="0"/>
          </a:p>
        </p:txBody>
      </p:sp>
      <p:sp>
        <p:nvSpPr>
          <p:cNvPr id="13" name="Schritt 3 Punkt"/>
          <p:cNvSpPr/>
          <p:nvPr/>
        </p:nvSpPr>
        <p:spPr>
          <a:xfrm>
            <a:off x="6233008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chritt 3 Zahl"/>
          <p:cNvSpPr txBox="1"/>
          <p:nvPr/>
        </p:nvSpPr>
        <p:spPr>
          <a:xfrm>
            <a:off x="623300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Schritt 3 Titel"/>
          <p:cNvSpPr txBox="1"/>
          <p:nvPr/>
        </p:nvSpPr>
        <p:spPr>
          <a:xfrm>
            <a:off x="6233008" y="3337560"/>
            <a:ext cx="2384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Wöchentlich antworten</a:t>
            </a:r>
            <a:endParaRPr lang="en-US" sz="2200" dirty="0"/>
          </a:p>
        </p:txBody>
      </p:sp>
      <p:sp>
        <p:nvSpPr>
          <p:cNvPr id="16" name="Schritt 3 Text"/>
          <p:cNvSpPr txBox="1"/>
          <p:nvPr/>
        </p:nvSpPr>
        <p:spPr>
          <a:xfrm>
            <a:off x="6233008" y="420624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Skalen antippen, Sprachaufnahmen machen</a:t>
            </a:r>
            <a:endParaRPr lang="en-US" sz="1500" dirty="0"/>
          </a:p>
        </p:txBody>
      </p:sp>
      <p:sp>
        <p:nvSpPr>
          <p:cNvPr id="17" name="Schritt 4 Punkt"/>
          <p:cNvSpPr/>
          <p:nvPr/>
        </p:nvSpPr>
        <p:spPr>
          <a:xfrm>
            <a:off x="9075191" y="2286000"/>
            <a:ext cx="731520" cy="73152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Schritt 4 Zahl"/>
          <p:cNvSpPr txBox="1"/>
          <p:nvPr/>
        </p:nvSpPr>
        <p:spPr>
          <a:xfrm>
            <a:off x="9075191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Schritt 4 Titel"/>
          <p:cNvSpPr txBox="1"/>
          <p:nvPr/>
        </p:nvSpPr>
        <p:spPr>
          <a:xfrm>
            <a:off x="9075191" y="3337560"/>
            <a:ext cx="2384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Nachholen</a:t>
            </a:r>
            <a:endParaRPr lang="en-US" sz="2200" dirty="0"/>
          </a:p>
        </p:txBody>
      </p:sp>
      <p:sp>
        <p:nvSpPr>
          <p:cNvPr id="20" name="Schritt 4 Text"/>
          <p:cNvSpPr txBox="1"/>
          <p:nvPr/>
        </p:nvSpPr>
        <p:spPr>
          <a:xfrm>
            <a:off x="9075191" y="420624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Verpasst? Offene Abfragen lassen sich nachholen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7830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Jetzt starten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1945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chemeClr val="accent5"/>
                </a:solidFill>
              </a:rPr>
              <a:t>Mach mit</a:t>
            </a:r>
            <a:endParaRPr lang="en-US" sz="9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Registrieren, Code bilden, fertig. Ab Studienstart warten deine Fragen in der App.</a:t>
            </a:r>
            <a:endParaRPr lang="en-US" sz="2000" dirty="0"/>
          </a:p>
        </p:txBody>
      </p:sp>
      <p:sp>
        <p:nvSpPr>
          <p:cNvPr id="5" name="Text 1">
            <a:hlinkClick r:id="rId1" tooltip=""/>
          </p:cNvPr>
          <p:cNvSpPr/>
          <p:nvPr>
            <p:ph idx="105" type="body" hasCustomPrompt="1"/>
          </p:nvPr>
        </p:nvSpPr>
        <p:spPr>
          <a:xfrm>
            <a:off x="548640" y="5166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u="sng" dirty="0">
                <a:solidFill>
                  <a:schemeClr val="accent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limejournal.org</a:t>
            </a:r>
            <a:endParaRPr lang="en-US" sz="2800" dirty="0"/>
          </a:p>
        </p:txBody>
      </p:sp>
      <p:sp>
        <p:nvSpPr>
          <p:cNvPr id="6" name="QR-Karte"/>
          <p:cNvSpPr/>
          <p:nvPr/>
        </p:nvSpPr>
        <p:spPr>
          <a:xfrm>
            <a:off x="8183880" y="1463040"/>
            <a:ext cx="3291840" cy="39319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7" name="QR-Code" descr="QR-Code zu limejournal.or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74520"/>
            <a:ext cx="2468880" cy="2468880"/>
          </a:xfrm>
          <a:prstGeom prst="rect">
            <a:avLst/>
          </a:prstGeom>
        </p:spPr>
      </p:pic>
      <p:sp>
        <p:nvSpPr>
          <p:cNvPr id="8" name="QR-Hinweis"/>
          <p:cNvSpPr txBox="1"/>
          <p:nvPr/>
        </p:nvSpPr>
        <p:spPr>
          <a:xfrm>
            <a:off x="818388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Scannen und registrieren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Vorlage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Farben und Schrift</a:t>
            </a:r>
            <a:endParaRPr lang="en-US" sz="3600" dirty="0"/>
          </a:p>
        </p:txBody>
      </p:sp>
      <p:sp>
        <p:nvSpPr>
          <p:cNvPr id="4" name="Farbe Hintergrund 1"/>
          <p:cNvSpPr/>
          <p:nvPr/>
        </p:nvSpPr>
        <p:spPr>
          <a:xfrm>
            <a:off x="548640" y="1874520"/>
            <a:ext cx="160020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Hintergrund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#FAF7F2</a:t>
            </a:r>
            <a:endParaRPr lang="en-US" sz="1200" dirty="0"/>
          </a:p>
        </p:txBody>
      </p:sp>
      <p:sp>
        <p:nvSpPr>
          <p:cNvPr id="7" name="Farbe Hintergrund 2 · Karten"/>
          <p:cNvSpPr/>
          <p:nvPr/>
        </p:nvSpPr>
        <p:spPr>
          <a:xfrm>
            <a:off x="2432304" y="1874520"/>
            <a:ext cx="160020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32304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Hintergrund 2 · Karten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32304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#FFFFFF</a:t>
            </a:r>
            <a:endParaRPr lang="en-US" sz="1200" dirty="0"/>
          </a:p>
        </p:txBody>
      </p:sp>
      <p:sp>
        <p:nvSpPr>
          <p:cNvPr id="10" name="Farbe Akzent 3 · Zartgrün"/>
          <p:cNvSpPr/>
          <p:nvPr/>
        </p:nvSpPr>
        <p:spPr>
          <a:xfrm>
            <a:off x="4315968" y="1874520"/>
            <a:ext cx="1600200" cy="1600200"/>
          </a:xfrm>
          <a:prstGeom prst="roundRect">
            <a:avLst>
              <a:gd name="adj" fmla="val 10286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15968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Akzent 3 · Zartgrün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#EDF6E3</a:t>
            </a:r>
            <a:endParaRPr lang="en-US" sz="1200" dirty="0"/>
          </a:p>
        </p:txBody>
      </p:sp>
      <p:sp>
        <p:nvSpPr>
          <p:cNvPr id="13" name="Farbe Akzent 1 · Marke"/>
          <p:cNvSpPr/>
          <p:nvPr/>
        </p:nvSpPr>
        <p:spPr>
          <a:xfrm>
            <a:off x="6199632" y="1874520"/>
            <a:ext cx="1600200" cy="1600200"/>
          </a:xfrm>
          <a:prstGeom prst="roundRect">
            <a:avLst>
              <a:gd name="adj" fmla="val 10286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99632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Akzent 1 · Marke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#6FB337</a:t>
            </a:r>
            <a:endParaRPr lang="en-US" sz="1200" dirty="0"/>
          </a:p>
        </p:txBody>
      </p:sp>
      <p:sp>
        <p:nvSpPr>
          <p:cNvPr id="16" name="Farbe Akzent 2 · Textgrün"/>
          <p:cNvSpPr/>
          <p:nvPr/>
        </p:nvSpPr>
        <p:spPr>
          <a:xfrm>
            <a:off x="8083296" y="1874520"/>
            <a:ext cx="1600200" cy="1600200"/>
          </a:xfrm>
          <a:prstGeom prst="roundRect">
            <a:avLst>
              <a:gd name="adj" fmla="val 10286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83296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Akzent 2 · Textgrün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#3D7019</a:t>
            </a:r>
            <a:endParaRPr lang="en-US" sz="1200" dirty="0"/>
          </a:p>
        </p:txBody>
      </p:sp>
      <p:sp>
        <p:nvSpPr>
          <p:cNvPr id="19" name="Farbe Text 1"/>
          <p:cNvSpPr/>
          <p:nvPr/>
        </p:nvSpPr>
        <p:spPr>
          <a:xfrm>
            <a:off x="9966960" y="1874520"/>
            <a:ext cx="1600200" cy="1600200"/>
          </a:xfrm>
          <a:prstGeom prst="roundRect">
            <a:avLst>
              <a:gd name="adj" fmla="val 10286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6696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Text 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#1F2430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Überschrift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94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Arial Bold, normale Schreibung, 36–96 pt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36792" y="4663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Fließtext in Arial, 15–20 pt, linksbündig.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Lime für Flächen, das dunkle Grün für Text.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meJournal">
  <a:themeElements>
    <a:clrScheme name="LimeJournal">
      <a:dk1>
        <a:srgbClr val="1F2430"/>
      </a:dk1>
      <a:lt1>
        <a:srgbClr val="FAF7F2"/>
      </a:lt1>
      <a:dk2>
        <a:srgbClr val="667085"/>
      </a:dk2>
      <a:lt2>
        <a:srgbClr val="FFFFFF"/>
      </a:lt2>
      <a:accent1>
        <a:srgbClr val="6FB337"/>
      </a:accent1>
      <a:accent2>
        <a:srgbClr val="3D7019"/>
      </a:accent2>
      <a:accent3>
        <a:srgbClr val="EDF6E3"/>
      </a:accent3>
      <a:accent4>
        <a:srgbClr val="E4DED4"/>
      </a:accent4>
      <a:accent5>
        <a:srgbClr val="1A2E0B"/>
      </a:accent5>
      <a:accent6>
        <a:srgbClr val="BFE031"/>
      </a:accent6>
      <a:hlink>
        <a:srgbClr val="3D7019"/>
      </a:hlink>
      <a:folHlink>
        <a:srgbClr val="667085"/>
      </a:folHlink>
    </a:clrScheme>
    <a:fontScheme name="LimeJour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LimeJournal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LimeJournal – Präsentationsvorlage</dc:title>
  <dc:subject>PptxGenJS Presentation</dc:subject>
  <dc:creator>LimeJournal</dc:creator>
  <cp:lastModifiedBy>LimeJournal</cp:lastModifiedBy>
  <cp:revision>1</cp:revision>
  <dcterms:created xsi:type="dcterms:W3CDTF">2026-10-25T10:05:37Z</dcterms:created>
  <dcterms:modified xsi:type="dcterms:W3CDTF">2026-10-25T10:05:37Z</dcterms:modified>
</cp:coreProperties>
</file>