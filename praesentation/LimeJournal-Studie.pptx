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fe0f48d2-be85-f497-0918-2e8208f9a2ee}">
          <p14:sldIdLst>
            <p14:sldId id="256"/>
          </p14:sldIdLst>
        </p14:section>
        <p14:section name="Warum Reflexion" id="{9a1c088c-fa31-1682-41c9-55e2abf4ed9c}">
          <p14:sldIdLst>
            <p14:sldId id="257"/>
            <p14:sldId id="258"/>
          </p14:sldIdLst>
        </p14:section>
        <p14:section name="LimeJournal" id="{a5f1e0b0-7cba-b351-452e-1ffe9120bc75}">
          <p14:sldIdLst>
            <p14:sldId id="259"/>
            <p14:sldId id="260"/>
          </p14:sldIdLst>
        </p14:section>
        <p14:section name="Mitmachen" id="{e6cb6f9f-b092-9734-ad09-477d17e4cde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20 Sekunden.
Kurz vorstellen: Johanna Heisgen, wissenschaftliche Mitarbeiterin im Bereich Entrepreneurship an der HWR Berlin.
„Ich möchte euch zu meiner Studie [[Projekttitel]] einladen. Es geht um etwas, das im Alltag fast immer zu kurz kommt: kurz innehalten und zurückschauen.“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50 Sekunden.
Wir erleben in einem Projekt jede Woche viel: Entscheidungen, Konflikte im Team, kleine Erfolge, Rückschläge. Gelernt wird daraus aber vor allem dann, wenn wir es nachträglich einordnen – was lief gut, was nicht, was mache ich nächstes Mal anders.
Im Sport ist das selbstverständlich: Spielanalyse nach jedem Spiel, auch nach den verlorenen. In Projekten und im Studium machen wir das selten – weil es keinen festen Moment dafür gibt. Genau den schafft LimeJournal.
Dass sich das lohnt, ist gut belegt: Eine Meta-Analyse in Human Factors hat 46 Stichproben mit insgesamt 2.136 Personen ausgewertet. Strukturierte Rückblicke – sogenannte Debriefs – verbesserten die Leistung gegenüber Kontrollgruppen im Schnitt um rund 25 % (d = 0,67). Der Effekt war für Einzelpersonen ähnlich groß wie für Teams, im echten Einsatz wie in Simulationen und in medizinischen wie nicht-medizinischen Bereichen.
Falls jemand nachfragt: Die Studien untersuchen meist strukturierte, oft moderierte Rückblicke nach einer Aufgabe – LimeJournal ist eine verwandte, aber eigene Form. Die 25 % sind also ein Hinweis, wie viel Rückblick bringen kann, kein Versprechen für die App.
Quelle: Tannenbaum, S. I. &amp; Cerasoli, C. P. (2013). Do team and individual debriefs enhance performance? A meta-analysis. Human Factors, 55(1), 231–245. https://doi.org/10.1177/0018720812448394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60 Sekunden.
Reflexivität heißt: das eigene Handeln regelmäßig mit etwas Abstand betrachten und daraus Schlüsse ziehen.
Links – im Projekt oder in der Gründung: Wer seine Woche kurz durchgeht, trifft die nächste Entscheidung bewusster, erkennt Fehler früher und sieht, wie weit das Team schon gekommen ist. Das ist eine Fähigkeit, die später in jedem Job gefragt ist.
Rechts – privat: Dieselbe Gewohnheit hilft, zu merken, wann es zu viel wird, was einem guttut und was man ändern möchte.
Kurz betonen: Ihr übt in der Studie also nebenbei etwas, das euch selbst nützt.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60 Sekunden.
Registrieren: Auf limejournal.org, ohne Installation, am Handy oder Laptop. Die App schlägt einen Fantasienamen vor. Dazu bildet ihr einen persönlichen Code: erste zwei Buchstaben vom Vornamen eurer Mutter, euer Geburtsmonat, erste zwei Buchstaben eures Geburtsortes – plus eure Gruppe. Die Gruppe sage ich euch; ihr tragt sie selbst unter „Code und Gruppe“ ein.
Antworten: Jede Woche erscheinen [[zwei]] kurze Abfragen ([[Check-in am Montag, Check-out am Freitag]]). Erst ein paar Skalen, dann eine oder mehrere Fragen, die ihr per Sprachaufnahme beantwortet – reden statt tippen. Verpasste Abfragen lassen sich nachholen.
Zurückblicken: Die Aufnahmen werden automatisch verschriftlicht. Ihr könnt alles jederzeit wieder ansehen – euer eigenes Projekttagebuch.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60 Sekunden – diese Folie ist wichtig, ruhig Zeit lassen.
Freiwillig: Teilnahme, Antworten oder Aufhören haben keinen Einfluss auf Noten oder Studium. Ich beginne mit der Auswertung erst, wenn die Leistungen in der Lehrveranstaltung bewertet sind.
Anonym: Gespeichert werden weder echter Name noch E-Mail noch Matrikelnummer. Weil ich die Aufnahmen anhöre, könnte ich Stimmen erkennen – ich nutze die Daten aber nie für Bewertungen. Bitte nennt in den Aufnahmen keine Namen anderer Personen. Server stehen in Deutschland; die Transkription läuft über einen Anbieter in der EU, die Aufnahmen werden dort nicht gespeichert und nicht zum KI-Training genutzt.
Jederzeit raus: Im Menü „Teilnahme beenden“ – danach ist sofort alles gelöscht. Die vollständige Datenschutzinformation steht in der App und im Informationsschreiben.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30 Sekunden, danach Fragen.
Am besten gleich jetzt: QR-Code scannen, registrieren, Code bilden. Das dauert nur ein paar Minuten, und ich bin da, falls etwas hakt. Die ersten Fragen erscheinen ab Studienstart [[Datum]] in der App.
Die Folie stehen lassen, während Fragen beantwortet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LJ-Titel-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J-Kapitel-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image-1007-2.png"/><Relationship Id="rId3"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J Basis">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J 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585216"/>
            <a:ext cx="457200" cy="338221"/>
          </a:xfrm>
          <a:prstGeom prst="rect">
            <a:avLst/>
          </a:prstGeom>
        </p:spPr>
      </p:pic>
      <p:sp>
        <p:nvSpPr>
          <p:cNvPr id="3" name="Text 0"/>
          <p:cNvSpPr/>
          <p:nvPr/>
        </p:nvSpPr>
        <p:spPr>
          <a:xfrm>
            <a:off x="1097280" y="493776"/>
            <a:ext cx="2743200" cy="447949"/>
          </a:xfrm>
          <a:prstGeom prst="rect">
            <a:avLst/>
          </a:prstGeom>
          <a:noFill/>
          <a:ln/>
        </p:spPr>
        <p:txBody>
          <a:bodyPr wrap="square" lIns="0" tIns="0" rIns="0" bIns="0" rtlCol="0" anchor="ctr"/>
          <a:lstStyle/>
          <a:p>
            <a:pPr indent="0" marL="0">
              <a:buNone/>
            </a:pPr>
            <a:r>
              <a:rPr lang="en-US" sz="1800" b="1" dirty="0">
                <a:solidFill>
                  <a:schemeClr val="tx1"/>
                </a:solidFill>
              </a:rPr>
              <a:t>LimeJournal</a:t>
            </a:r>
            <a:endParaRPr lang="en-US" sz="1800" dirty="0"/>
          </a:p>
        </p:txBody>
      </p:sp>
      <p:sp>
        <p:nvSpPr>
          <p:cNvPr id="4" name="Text 1"/>
          <p:cNvSpPr/>
          <p:nvPr>
            <p:ph idx="102" type="body" hasCustomPrompt="1"/>
          </p:nvPr>
        </p:nvSpPr>
        <p:spPr>
          <a:xfrm>
            <a:off x="548640" y="1874520"/>
            <a:ext cx="7315200" cy="310896"/>
          </a:xfrm>
          <a:prstGeom prst="rect">
            <a:avLst/>
          </a:prstGeom>
          <a:noFill/>
          <a:ln/>
        </p:spPr>
        <p:txBody>
          <a:bodyPr wrap="square" rtlCol="0"/>
          <a:lstStyle>
            <a:lvl1pPr algn="l" indent="0" marL="0">
              <a:buNone/>
              <a:defRPr cap="all" lang="en-US" sz="1300" b="1" spc="200" kern="0" dirty="0">
                <a:solidFill>
                  <a:schemeClr val="accent2"/>
                </a:solidFill>
              </a:defRPr>
            </a:lvl1pPr>
          </a:lstStyle>
          <a:p>
            <a:pPr algn="l" indent="0" marL="0">
              <a:buNone/>
            </a:pPr>
            <a:r>
              <a:rPr cap="all" lang="en-US" sz="1300" b="1" spc="200" kern="0" dirty="0">
                <a:solidFill>
                  <a:schemeClr val="accent2"/>
                </a:solidFill>
              </a:rPr>
              <a:t>KICKER</a:t>
            </a:r>
            <a:endParaRPr cap="all" lang="en-US" sz="1300" dirty="0"/>
          </a:p>
        </p:txBody>
      </p:sp>
      <p:sp>
        <p:nvSpPr>
          <p:cNvPr id="5" name="Text 1"/>
          <p:cNvSpPr/>
          <p:nvPr>
            <p:ph idx="103" type="title" hasCustomPrompt="1"/>
          </p:nvPr>
        </p:nvSpPr>
        <p:spPr>
          <a:xfrm>
            <a:off x="548640" y="2286000"/>
            <a:ext cx="6766560" cy="2194560"/>
          </a:xfrm>
          <a:prstGeom prst="rect">
            <a:avLst/>
          </a:prstGeom>
          <a:noFill/>
          <a:ln/>
        </p:spPr>
        <p:txBody>
          <a:bodyPr wrap="square" rtlCol="0"/>
          <a:lstStyle>
            <a:lvl1pPr algn="l" indent="0" marL="0">
              <a:lnSpc>
                <a:spcPct val="95000"/>
              </a:lnSpc>
              <a:buNone/>
              <a:defRPr lang="en-US" sz="6000" b="1" dirty="0">
                <a:solidFill>
                  <a:schemeClr val="tx1"/>
                </a:solidFill>
              </a:defRPr>
            </a:lvl1pPr>
          </a:lstStyle>
          <a:p>
            <a:pPr algn="l" indent="0" marL="0">
              <a:lnSpc>
                <a:spcPct val="95000"/>
              </a:lnSpc>
              <a:buNone/>
            </a:pPr>
            <a:r>
              <a:rPr lang="en-US" sz="6000" b="1" dirty="0">
                <a:solidFill>
                  <a:schemeClr val="tx1"/>
                </a:solidFill>
              </a:rPr>
              <a:t>Titel der Präsentation</a:t>
            </a:r>
            <a:endParaRPr lang="en-US" sz="6000" dirty="0"/>
          </a:p>
        </p:txBody>
      </p:sp>
      <p:sp>
        <p:nvSpPr>
          <p:cNvPr id="6" name="Text 1"/>
          <p:cNvSpPr/>
          <p:nvPr>
            <p:ph idx="104" type="body" hasCustomPrompt="1"/>
          </p:nvPr>
        </p:nvSpPr>
        <p:spPr>
          <a:xfrm>
            <a:off x="548640" y="4663440"/>
            <a:ext cx="6217920" cy="82296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r>
              <a:rPr lang="en-US" sz="2000" dirty="0">
                <a:solidFill>
                  <a:schemeClr val="tx2"/>
                </a:solidFill>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J Kap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 y="640080"/>
            <a:ext cx="5029200" cy="3017520"/>
          </a:xfrm>
          <a:prstGeom prst="rect">
            <a:avLst/>
          </a:prstGeom>
          <a:noFill/>
          <a:ln/>
        </p:spPr>
        <p:txBody>
          <a:bodyPr wrap="square" rtlCol="0"/>
          <a:lstStyle>
            <a:lvl1pPr algn="l" indent="0" marL="0">
              <a:lnSpc>
                <a:spcPct val="80000"/>
              </a:lnSpc>
              <a:buNone/>
              <a:defRPr lang="en-US" sz="20000" b="1" dirty="0">
                <a:solidFill>
                  <a:schemeClr val="accent2"/>
                </a:solidFill>
              </a:defRPr>
            </a:lvl1pPr>
          </a:lstStyle>
          <a:p>
            <a:pPr algn="l" indent="0" marL="0">
              <a:lnSpc>
                <a:spcPct val="80000"/>
              </a:lnSpc>
              <a:buNone/>
            </a:pPr>
            <a:r>
              <a:rPr lang="en-US" sz="20000" b="1" dirty="0">
                <a:solidFill>
                  <a:schemeClr val="accent2"/>
                </a:solidFill>
              </a:rPr>
              <a:t>01</a:t>
            </a:r>
            <a:endParaRPr lang="en-US" sz="20000" dirty="0"/>
          </a:p>
        </p:txBody>
      </p:sp>
      <p:sp>
        <p:nvSpPr>
          <p:cNvPr id="3" name="Text 0"/>
          <p:cNvSpPr/>
          <p:nvPr>
            <p:ph idx="101" type="title" hasCustomPrompt="1"/>
          </p:nvPr>
        </p:nvSpPr>
        <p:spPr>
          <a:xfrm>
            <a:off x="548640" y="3931920"/>
            <a:ext cx="7680960" cy="82296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r>
              <a:rPr lang="en-US" sz="4800" b="1" dirty="0">
                <a:solidFill>
                  <a:schemeClr val="tx1"/>
                </a:solidFill>
              </a:rPr>
              <a:t>Kapitel</a:t>
            </a:r>
            <a:endParaRPr lang="en-US" sz="4800" dirty="0"/>
          </a:p>
        </p:txBody>
      </p:sp>
      <p:sp>
        <p:nvSpPr>
          <p:cNvPr id="4" name="Text 0"/>
          <p:cNvSpPr/>
          <p:nvPr>
            <p:ph idx="102" type="body" hasCustomPrompt="1"/>
          </p:nvPr>
        </p:nvSpPr>
        <p:spPr>
          <a:xfrm>
            <a:off x="548640" y="4800600"/>
            <a:ext cx="6766560" cy="82296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r>
              <a:rPr lang="en-US" sz="2000" dirty="0">
                <a:solidFill>
                  <a:schemeClr val="tx2"/>
                </a:solidFill>
              </a:rPr>
              <a:t>Ein Satz, worum es in diesem Kapitel geht</a:t>
            </a:r>
            <a:endParaRPr lang="en-US" sz="2000" dirty="0"/>
          </a:p>
        </p:txBody>
      </p:sp>
      <p:pic>
        <p:nvPicPr>
          <p:cNvPr id="5"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6345936"/>
            <a:ext cx="310896" cy="229990"/>
          </a:xfrm>
          <a:prstGeom prst="rect">
            <a:avLst/>
          </a:prstGeom>
        </p:spPr>
      </p:pic>
      <p:sp>
        <p:nvSpPr>
          <p:cNvPr id="6" name="Text 0"/>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J Statement">
    <p:bg>
      <p:bgPr>
        <a:solidFill>
          <a:srgbClr val="FAF7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7315200" cy="310896"/>
          </a:xfrm>
          <a:prstGeom prst="rect">
            <a:avLst/>
          </a:prstGeom>
          <a:noFill/>
          <a:ln/>
        </p:spPr>
        <p:txBody>
          <a:bodyPr wrap="square" rtlCol="0"/>
          <a:lstStyle>
            <a:lvl1pPr algn="l" indent="0" marL="0">
              <a:buNone/>
              <a:defRPr cap="all" lang="en-US" sz="1300" b="1" spc="200" kern="0" dirty="0">
                <a:solidFill>
                  <a:schemeClr val="accent2"/>
                </a:solidFill>
              </a:defRPr>
            </a:lvl1pPr>
          </a:lstStyle>
          <a:p>
            <a:pPr algn="l" indent="0" marL="0">
              <a:buNone/>
            </a:pPr>
            <a:r>
              <a:rPr cap="all" lang="en-US" sz="1300" b="1" spc="200" kern="0" dirty="0">
                <a:solidFill>
                  <a:schemeClr val="accent2"/>
                </a:solidFill>
              </a:rPr>
              <a:t>KICKER</a:t>
            </a:r>
            <a:endParaRPr cap="all" lang="en-US" sz="1300" dirty="0"/>
          </a:p>
        </p:txBody>
      </p:sp>
      <p:sp>
        <p:nvSpPr>
          <p:cNvPr id="3" name="Text 0"/>
          <p:cNvSpPr/>
          <p:nvPr>
            <p:ph idx="101" type="title" hasCustomPrompt="1"/>
          </p:nvPr>
        </p:nvSpPr>
        <p:spPr>
          <a:xfrm>
            <a:off x="548640" y="1645920"/>
            <a:ext cx="10058400" cy="3017520"/>
          </a:xfrm>
          <a:prstGeom prst="rect">
            <a:avLst/>
          </a:prstGeom>
          <a:noFill/>
          <a:ln/>
        </p:spPr>
        <p:txBody>
          <a:bodyPr wrap="square" rtlCol="0"/>
          <a:lstStyle>
            <a:lvl1pPr algn="l" indent="0" marL="0">
              <a:lnSpc>
                <a:spcPct val="100000"/>
              </a:lnSpc>
              <a:buNone/>
              <a:defRPr lang="en-US" sz="5200" b="1" dirty="0">
                <a:solidFill>
                  <a:schemeClr val="tx1"/>
                </a:solidFill>
              </a:defRPr>
            </a:lvl1pPr>
          </a:lstStyle>
          <a:p>
            <a:pPr algn="l" indent="0" marL="0">
              <a:lnSpc>
                <a:spcPct val="100000"/>
              </a:lnSpc>
              <a:buNone/>
            </a:pPr>
            <a:r>
              <a:rPr lang="en-US" sz="5200" b="1" dirty="0">
                <a:solidFill>
                  <a:schemeClr val="tx1"/>
                </a:solidFill>
              </a:rPr>
              <a:t>Eine klare Aussage in großer Schrift</a:t>
            </a:r>
            <a:endParaRPr lang="en-US" sz="5200" dirty="0"/>
          </a:p>
        </p:txBody>
      </p:sp>
      <p:sp>
        <p:nvSpPr>
          <p:cNvPr id="4" name="Text 0"/>
          <p:cNvSpPr/>
          <p:nvPr>
            <p:ph idx="102" type="body" hasCustomPrompt="1"/>
          </p:nvPr>
        </p:nvSpPr>
        <p:spPr>
          <a:xfrm>
            <a:off x="548640" y="4846320"/>
            <a:ext cx="7315200" cy="54864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r>
              <a:rPr lang="en-US" sz="1800" dirty="0">
                <a:solidFill>
                  <a:schemeClr val="tx2"/>
                </a:solidFill>
              </a:rPr>
              <a:t>Quelle oder Einordnung</a:t>
            </a:r>
            <a:endParaRPr lang="en-US" sz="1800" dirty="0"/>
          </a:p>
        </p:txBody>
      </p:sp>
      <p:pic>
        <p:nvPicPr>
          <p:cNvPr id="5"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6345936"/>
            <a:ext cx="310896" cy="229990"/>
          </a:xfrm>
          <a:prstGeom prst="rect">
            <a:avLst/>
          </a:prstGeom>
        </p:spPr>
      </p:pic>
      <p:sp>
        <p:nvSpPr>
          <p:cNvPr id="6" name="Text 0"/>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J Inhalt">
    <p:bg>
      <p:bgPr>
        <a:solidFill>
          <a:srgbClr val="FAF7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7315200" cy="310896"/>
          </a:xfrm>
          <a:prstGeom prst="rect">
            <a:avLst/>
          </a:prstGeom>
          <a:noFill/>
          <a:ln/>
        </p:spPr>
        <p:txBody>
          <a:bodyPr wrap="square" rtlCol="0"/>
          <a:lstStyle>
            <a:lvl1pPr algn="l" indent="0" marL="0">
              <a:buNone/>
              <a:defRPr cap="all" lang="en-US" sz="1300" b="1" spc="200" kern="0" dirty="0">
                <a:solidFill>
                  <a:schemeClr val="accent2"/>
                </a:solidFill>
              </a:defRPr>
            </a:lvl1pPr>
          </a:lstStyle>
          <a:p>
            <a:pPr algn="l" indent="0" marL="0">
              <a:buNone/>
            </a:pPr>
            <a:r>
              <a:rPr cap="all" lang="en-US" sz="1300" b="1" spc="200" kern="0" dirty="0">
                <a:solidFill>
                  <a:schemeClr val="accent2"/>
                </a:solidFill>
              </a:rPr>
              <a:t>KICKER</a:t>
            </a:r>
            <a:endParaRPr cap="all" lang="en-US" sz="1300" dirty="0"/>
          </a:p>
        </p:txBody>
      </p:sp>
      <p:sp>
        <p:nvSpPr>
          <p:cNvPr id="3" name="Text 0"/>
          <p:cNvSpPr/>
          <p:nvPr>
            <p:ph idx="101" type="title" hasCustomPrompt="1"/>
          </p:nvPr>
        </p:nvSpPr>
        <p:spPr>
          <a:xfrm>
            <a:off x="548640" y="822960"/>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Titel der Folie</a:t>
            </a:r>
            <a:endParaRPr lang="en-US" sz="3600" dirty="0"/>
          </a:p>
        </p:txBody>
      </p:sp>
      <p:pic>
        <p:nvPicPr>
          <p:cNvPr id="4"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6345936"/>
            <a:ext cx="310896" cy="229990"/>
          </a:xfrm>
          <a:prstGeom prst="rect">
            <a:avLst/>
          </a:prstGeom>
        </p:spPr>
      </p:pic>
      <p:sp>
        <p:nvSpPr>
          <p:cNvPr id="5" name="Text 0"/>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J Zwei Spalten">
    <p:bg>
      <p:bgPr>
        <a:solidFill>
          <a:srgbClr val="FAF7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7315200" cy="310896"/>
          </a:xfrm>
          <a:prstGeom prst="rect">
            <a:avLst/>
          </a:prstGeom>
          <a:noFill/>
          <a:ln/>
        </p:spPr>
        <p:txBody>
          <a:bodyPr wrap="square" rtlCol="0"/>
          <a:lstStyle>
            <a:lvl1pPr algn="l" indent="0" marL="0">
              <a:buNone/>
              <a:defRPr cap="all" lang="en-US" sz="1300" b="1" spc="200" kern="0" dirty="0">
                <a:solidFill>
                  <a:schemeClr val="accent2"/>
                </a:solidFill>
              </a:defRPr>
            </a:lvl1pPr>
          </a:lstStyle>
          <a:p>
            <a:pPr algn="l" indent="0" marL="0">
              <a:buNone/>
            </a:pPr>
            <a:r>
              <a:rPr cap="all" lang="en-US" sz="1300" b="1" spc="200" kern="0" dirty="0">
                <a:solidFill>
                  <a:schemeClr val="accent2"/>
                </a:solidFill>
              </a:rPr>
              <a:t>KICKER</a:t>
            </a:r>
            <a:endParaRPr cap="all" lang="en-US" sz="1300" dirty="0"/>
          </a:p>
        </p:txBody>
      </p:sp>
      <p:sp>
        <p:nvSpPr>
          <p:cNvPr id="3" name="Text 0"/>
          <p:cNvSpPr/>
          <p:nvPr>
            <p:ph idx="101" type="title" hasCustomPrompt="1"/>
          </p:nvPr>
        </p:nvSpPr>
        <p:spPr>
          <a:xfrm>
            <a:off x="548640" y="822960"/>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Titel der Folie</a:t>
            </a:r>
            <a:endParaRPr lang="en-US" sz="3600" dirty="0"/>
          </a:p>
        </p:txBody>
      </p:sp>
      <p:sp>
        <p:nvSpPr>
          <p:cNvPr id="4" name="Text 0"/>
          <p:cNvSpPr/>
          <p:nvPr/>
        </p:nvSpPr>
        <p:spPr>
          <a:xfrm>
            <a:off x="548640" y="1874520"/>
            <a:ext cx="5330952" cy="4069080"/>
          </a:xfrm>
          <a:prstGeom prst="roundRect">
            <a:avLst>
              <a:gd name="adj" fmla="val 4045"/>
            </a:avLst>
          </a:prstGeom>
          <a:solidFill>
            <a:srgbClr val="FFFFFF"/>
          </a:solidFill>
          <a:ln w="12700">
            <a:solidFill>
              <a:srgbClr val="E4DED4"/>
            </a:solidFill>
          </a:ln>
        </p:spPr>
        <p:txBody>
          <a:bodyPr wrap="square" rtlCol="0" anchor="ctr"/>
          <a:lstStyle/>
          <a:p>
            <a:pPr indent="0" marL="0">
              <a:buNone/>
            </a:pPr>
            <a:endParaRPr lang="en-US" dirty="0"/>
          </a:p>
        </p:txBody>
      </p:sp>
      <p:sp>
        <p:nvSpPr>
          <p:cNvPr id="5" name="Text 1"/>
          <p:cNvSpPr/>
          <p:nvPr>
            <p:ph idx="103" type="body" hasCustomPrompt="1"/>
          </p:nvPr>
        </p:nvSpPr>
        <p:spPr>
          <a:xfrm>
            <a:off x="914400" y="3017520"/>
            <a:ext cx="4599432" cy="4572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r>
              <a:rPr lang="en-US" sz="2400" b="1" dirty="0">
                <a:solidFill>
                  <a:schemeClr val="tx1"/>
                </a:solidFill>
              </a:rPr>
              <a:t>Spalte</a:t>
            </a:r>
            <a:endParaRPr lang="en-US" sz="2400" dirty="0"/>
          </a:p>
        </p:txBody>
      </p:sp>
      <p:sp>
        <p:nvSpPr>
          <p:cNvPr id="6" name="Text 1"/>
          <p:cNvSpPr/>
          <p:nvPr>
            <p:ph idx="104" type="body" hasCustomPrompt="1"/>
          </p:nvPr>
        </p:nvSpPr>
        <p:spPr>
          <a:xfrm>
            <a:off x="914400" y="3611880"/>
            <a:ext cx="4599432" cy="2103120"/>
          </a:xfrm>
          <a:prstGeom prst="rect">
            <a:avLst/>
          </a:prstGeom>
          <a:noFill/>
          <a:ln/>
        </p:spPr>
        <p:txBody>
          <a:bodyPr wrap="square" rtlCol="0"/>
          <a:lstStyle>
            <a:lvl1pPr algn="l" indent="0" marL="0">
              <a:spcAft>
                <a:spcPts val="800"/>
              </a:spcAft>
              <a:buNone/>
              <a:defRPr lang="en-US" sz="1700" dirty="0">
                <a:solidFill>
                  <a:schemeClr val="tx1"/>
                </a:solidFill>
              </a:defRPr>
            </a:lvl1pPr>
          </a:lstStyle>
          <a:p>
            <a:pPr algn="l" indent="0" marL="0">
              <a:spcAft>
                <a:spcPts val="800"/>
              </a:spcAft>
              <a:buNone/>
            </a:pPr>
            <a:r>
              <a:rPr lang="en-US" sz="1700" dirty="0">
                <a:solidFill>
                  <a:schemeClr val="tx1"/>
                </a:solidFill>
              </a:rPr>
              <a:t>Inhalt links</a:t>
            </a:r>
            <a:endParaRPr lang="en-US" sz="1700" dirty="0"/>
          </a:p>
        </p:txBody>
      </p:sp>
      <p:sp>
        <p:nvSpPr>
          <p:cNvPr id="7" name="Text 1"/>
          <p:cNvSpPr/>
          <p:nvPr/>
        </p:nvSpPr>
        <p:spPr>
          <a:xfrm>
            <a:off x="6312103" y="1874520"/>
            <a:ext cx="5330952" cy="4069080"/>
          </a:xfrm>
          <a:prstGeom prst="roundRect">
            <a:avLst>
              <a:gd name="adj" fmla="val 4045"/>
            </a:avLst>
          </a:prstGeom>
          <a:solidFill>
            <a:srgbClr val="FFFFFF"/>
          </a:solidFill>
          <a:ln w="12700">
            <a:solidFill>
              <a:srgbClr val="E4DED4"/>
            </a:solidFill>
          </a:ln>
        </p:spPr>
        <p:txBody>
          <a:bodyPr wrap="square" rtlCol="0" anchor="ctr"/>
          <a:lstStyle/>
          <a:p>
            <a:pPr indent="0" marL="0">
              <a:buNone/>
            </a:pPr>
            <a:endParaRPr lang="en-US" dirty="0"/>
          </a:p>
        </p:txBody>
      </p:sp>
      <p:sp>
        <p:nvSpPr>
          <p:cNvPr id="8" name="Text 2"/>
          <p:cNvSpPr/>
          <p:nvPr>
            <p:ph idx="106" type="body" hasCustomPrompt="1"/>
          </p:nvPr>
        </p:nvSpPr>
        <p:spPr>
          <a:xfrm>
            <a:off x="6677863" y="3017520"/>
            <a:ext cx="4599432" cy="4572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r>
              <a:rPr lang="en-US" sz="2400" b="1" dirty="0">
                <a:solidFill>
                  <a:schemeClr val="tx1"/>
                </a:solidFill>
              </a:rPr>
              <a:t>Spalte</a:t>
            </a:r>
            <a:endParaRPr lang="en-US" sz="2400" dirty="0"/>
          </a:p>
        </p:txBody>
      </p:sp>
      <p:sp>
        <p:nvSpPr>
          <p:cNvPr id="9" name="Text 2"/>
          <p:cNvSpPr/>
          <p:nvPr>
            <p:ph idx="107" type="body" hasCustomPrompt="1"/>
          </p:nvPr>
        </p:nvSpPr>
        <p:spPr>
          <a:xfrm>
            <a:off x="6677863" y="3611880"/>
            <a:ext cx="4599432" cy="2103120"/>
          </a:xfrm>
          <a:prstGeom prst="rect">
            <a:avLst/>
          </a:prstGeom>
          <a:noFill/>
          <a:ln/>
        </p:spPr>
        <p:txBody>
          <a:bodyPr wrap="square" rtlCol="0"/>
          <a:lstStyle>
            <a:lvl1pPr algn="l" indent="0" marL="0">
              <a:spcAft>
                <a:spcPts val="800"/>
              </a:spcAft>
              <a:buNone/>
              <a:defRPr lang="en-US" sz="1700" dirty="0">
                <a:solidFill>
                  <a:schemeClr val="tx1"/>
                </a:solidFill>
              </a:defRPr>
            </a:lvl1pPr>
          </a:lstStyle>
          <a:p>
            <a:pPr algn="l" indent="0" marL="0">
              <a:spcAft>
                <a:spcPts val="800"/>
              </a:spcAft>
              <a:buNone/>
            </a:pPr>
            <a:r>
              <a:rPr lang="en-US" sz="1700" dirty="0">
                <a:solidFill>
                  <a:schemeClr val="tx1"/>
                </a:solidFill>
              </a:rPr>
              <a:t>Inhalt rechts</a:t>
            </a:r>
            <a:endParaRPr lang="en-US" sz="1700" dirty="0"/>
          </a:p>
        </p:txBody>
      </p:sp>
      <p:pic>
        <p:nvPicPr>
          <p:cNvPr id="10"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6345936"/>
            <a:ext cx="310896" cy="229990"/>
          </a:xfrm>
          <a:prstGeom prst="rect">
            <a:avLst/>
          </a:prstGeom>
        </p:spPr>
      </p:pic>
      <p:sp>
        <p:nvSpPr>
          <p:cNvPr id="11" name="Text 2"/>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J Bild rechts">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EDF6E3"/>
          </a:solidFill>
          <a:ln/>
        </p:spPr>
      </p:sp>
      <p:pic>
        <p:nvPicPr>
          <p:cNvPr id="3" name="Image 0" descr="/private/tmp/claude-501/-Users-christianklang-Documents-GitHub-journaling-app/8b11f4dc-a1ad-412a-935e-f4856a6567a5/scratchpad/assets/ring-light.png">    </p:cNvPr>
          <p:cNvPicPr>
            <a:picLocks noChangeAspect="1"/>
          </p:cNvPicPr>
          <p:nvPr/>
        </p:nvPicPr>
        <p:blipFill>
          <a:blip r:embed="rId1"/>
          <a:stretch>
            <a:fillRect/>
          </a:stretch>
        </p:blipFill>
        <p:spPr>
          <a:xfrm>
            <a:off x="7314971" y="1600200"/>
            <a:ext cx="3657600" cy="3657600"/>
          </a:xfrm>
          <a:prstGeom prst="rect">
            <a:avLst/>
          </a:prstGeom>
        </p:spPr>
      </p:pic>
      <p:pic>
        <p:nvPicPr>
          <p:cNvPr id="4" name="Image 1" descr="/private/tmp/claude-501/-Users-christianklang-Documents-GitHub-journaling-app/8b11f4dc-a1ad-412a-935e-f4856a6567a5/scratchpad/assets/lime.png">    </p:cNvPr>
          <p:cNvPicPr>
            <a:picLocks noChangeAspect="1"/>
          </p:cNvPicPr>
          <p:nvPr/>
        </p:nvPicPr>
        <p:blipFill>
          <a:blip r:embed="rId2"/>
          <a:stretch>
            <a:fillRect/>
          </a:stretch>
        </p:blipFill>
        <p:spPr>
          <a:xfrm>
            <a:off x="8046491" y="2617269"/>
            <a:ext cx="2194560" cy="1623461"/>
          </a:xfrm>
          <a:prstGeom prst="rect">
            <a:avLst/>
          </a:prstGeom>
        </p:spPr>
      </p:pic>
      <p:sp>
        <p:nvSpPr>
          <p:cNvPr id="5" name="Text 1"/>
          <p:cNvSpPr/>
          <p:nvPr>
            <p:ph idx="103" hasCustomPrompt="1"/>
          </p:nvPr>
        </p:nvSpPr>
        <p:spPr>
          <a:xfrm>
            <a:off x="6095848" y="0"/>
            <a:ext cx="6095848" cy="6858000"/>
          </a:xfrm>
          <a:prstGeom prst="rect">
            <a:avLst/>
          </a:prstGeom>
          <a:noFill/>
          <a:ln/>
        </p:spPr>
        <p:txBody>
          <a:bodyPr wrap="square" rtlCol="0"/>
          <a:lstStyle>
            <a:lvl1pPr indent="0" marL="0">
              <a:buNone/>
              <a:defRPr lang="en-US" dirty="0">
                <a:solidFill>
                  <a:schemeClr val="tx2"/>
                </a:solidFill>
              </a:defRPr>
            </a:lvl1pPr>
          </a:lstStyle>
          <a:p>
            <a:pPr indent="0" marL="0">
              <a:buNone/>
            </a:pPr>
            <a:r>
              <a:rPr lang="en-US" dirty="0">
                <a:solidFill>
                  <a:schemeClr val="tx2"/>
                </a:solidFill>
              </a:rPr>
              <a:t>Bild einfügen</a:t>
            </a:r>
            <a:endParaRPr lang="en-US" dirty="0"/>
          </a:p>
        </p:txBody>
      </p:sp>
      <p:sp>
        <p:nvSpPr>
          <p:cNvPr id="6" name="Text 1"/>
          <p:cNvSpPr/>
          <p:nvPr>
            <p:ph idx="104" type="body" hasCustomPrompt="1"/>
          </p:nvPr>
        </p:nvSpPr>
        <p:spPr>
          <a:xfrm>
            <a:off x="548640" y="1417320"/>
            <a:ext cx="4937760" cy="310896"/>
          </a:xfrm>
          <a:prstGeom prst="rect">
            <a:avLst/>
          </a:prstGeom>
          <a:noFill/>
          <a:ln/>
        </p:spPr>
        <p:txBody>
          <a:bodyPr wrap="square" rtlCol="0"/>
          <a:lstStyle>
            <a:lvl1pPr algn="l" indent="0" marL="0">
              <a:buNone/>
              <a:defRPr cap="all" lang="en-US" sz="1300" b="1" spc="200" kern="0" dirty="0">
                <a:solidFill>
                  <a:schemeClr val="accent2"/>
                </a:solidFill>
              </a:defRPr>
            </a:lvl1pPr>
          </a:lstStyle>
          <a:p>
            <a:pPr algn="l" indent="0" marL="0">
              <a:buNone/>
            </a:pPr>
            <a:r>
              <a:rPr cap="all" lang="en-US" sz="1300" b="1" spc="200" kern="0" dirty="0">
                <a:solidFill>
                  <a:schemeClr val="accent2"/>
                </a:solidFill>
              </a:rPr>
              <a:t>KICKER</a:t>
            </a:r>
            <a:endParaRPr cap="all" lang="en-US" sz="1300" dirty="0"/>
          </a:p>
        </p:txBody>
      </p:sp>
      <p:sp>
        <p:nvSpPr>
          <p:cNvPr id="7" name="Text 1"/>
          <p:cNvSpPr/>
          <p:nvPr>
            <p:ph idx="105" type="title" hasCustomPrompt="1"/>
          </p:nvPr>
        </p:nvSpPr>
        <p:spPr>
          <a:xfrm>
            <a:off x="548640" y="1828800"/>
            <a:ext cx="5029200" cy="1645920"/>
          </a:xfrm>
          <a:prstGeom prst="rect">
            <a:avLst/>
          </a:prstGeom>
          <a:noFill/>
          <a:ln/>
        </p:spPr>
        <p:txBody>
          <a:bodyPr wrap="square" rtlCol="0"/>
          <a:lstStyle>
            <a:lvl1pPr algn="l" indent="0" marL="0">
              <a:lnSpc>
                <a:spcPct val="95000"/>
              </a:lnSpc>
              <a:buNone/>
              <a:defRPr lang="en-US" sz="4400" b="1" dirty="0">
                <a:solidFill>
                  <a:schemeClr val="tx1"/>
                </a:solidFill>
              </a:defRPr>
            </a:lvl1pPr>
          </a:lstStyle>
          <a:p>
            <a:pPr algn="l" indent="0" marL="0">
              <a:lnSpc>
                <a:spcPct val="95000"/>
              </a:lnSpc>
              <a:buNone/>
            </a:pPr>
            <a:r>
              <a:rPr lang="en-US" sz="4400" b="1" dirty="0">
                <a:solidFill>
                  <a:schemeClr val="tx1"/>
                </a:solidFill>
              </a:rPr>
              <a:t>Titel</a:t>
            </a:r>
            <a:endParaRPr lang="en-US" sz="4400" dirty="0"/>
          </a:p>
        </p:txBody>
      </p:sp>
      <p:sp>
        <p:nvSpPr>
          <p:cNvPr id="8" name="Text 1"/>
          <p:cNvSpPr/>
          <p:nvPr>
            <p:ph idx="106" type="body" hasCustomPrompt="1"/>
          </p:nvPr>
        </p:nvSpPr>
        <p:spPr>
          <a:xfrm>
            <a:off x="548640" y="3657600"/>
            <a:ext cx="4937760" cy="2194560"/>
          </a:xfrm>
          <a:prstGeom prst="rect">
            <a:avLst/>
          </a:prstGeom>
          <a:noFill/>
          <a:ln/>
        </p:spPr>
        <p:txBody>
          <a:bodyPr wrap="square" rtlCol="0"/>
          <a:lstStyle>
            <a:lvl1pPr algn="l" indent="0" marL="0">
              <a:spcAft>
                <a:spcPts val="800"/>
              </a:spcAft>
              <a:buNone/>
              <a:defRPr lang="en-US" sz="1700" dirty="0">
                <a:solidFill>
                  <a:schemeClr val="tx1"/>
                </a:solidFill>
              </a:defRPr>
            </a:lvl1pPr>
          </a:lstStyle>
          <a:p>
            <a:pPr algn="l" indent="0" marL="0">
              <a:spcAft>
                <a:spcPts val="800"/>
              </a:spcAft>
              <a:buNone/>
            </a:pPr>
            <a:r>
              <a:rPr lang="en-US" sz="1700" dirty="0">
                <a:solidFill>
                  <a:schemeClr val="tx1"/>
                </a:solidFill>
              </a:rPr>
              <a:t>Text</a:t>
            </a:r>
            <a:endParaRPr lang="en-US" sz="1700" dirty="0"/>
          </a:p>
        </p:txBody>
      </p:sp>
      <p:pic>
        <p:nvPicPr>
          <p:cNvPr id="9" name="Image 2" descr="/private/tmp/claude-501/-Users-christianklang-Documents-GitHub-journaling-app/8b11f4dc-a1ad-412a-935e-f4856a6567a5/scratchpad/assets/lime.png">    </p:cNvPr>
          <p:cNvPicPr>
            <a:picLocks noChangeAspect="1"/>
          </p:cNvPicPr>
          <p:nvPr/>
        </p:nvPicPr>
        <p:blipFill>
          <a:blip r:embed="rId3"/>
          <a:stretch>
            <a:fillRect/>
          </a:stretch>
        </p:blipFill>
        <p:spPr>
          <a:xfrm>
            <a:off x="548640" y="6345936"/>
            <a:ext cx="310896" cy="229990"/>
          </a:xfrm>
          <a:prstGeom prst="rect">
            <a:avLst/>
          </a:prstGeom>
        </p:spPr>
      </p:pic>
      <p:sp>
        <p:nvSpPr>
          <p:cNvPr id="10" name="Text 1"/>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4632808"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J Abschluss">
    <p:bg>
      <p:bgPr>
        <a:solidFill>
          <a:srgbClr val="6FB337"/>
        </a:solidFill>
      </p:bgPr>
    </p:bg>
    <p:spTree>
      <p:nvGrpSpPr>
        <p:cNvPr id="1" name=""/>
        <p:cNvGrpSpPr/>
        <p:nvPr/>
      </p:nvGrpSpPr>
      <p:grpSpPr>
        <a:xfrm>
          <a:off x="0" y="0"/>
          <a:ext cx="0" cy="0"/>
          <a:chOff x="0" y="0"/>
          <a:chExt cx="0" cy="0"/>
        </a:xfrm>
      </p:grpSpPr>
      <p:pic>
        <p:nvPicPr>
          <p:cNvPr id="2"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585216"/>
            <a:ext cx="457200" cy="338221"/>
          </a:xfrm>
          <a:prstGeom prst="rect">
            <a:avLst/>
          </a:prstGeom>
        </p:spPr>
      </p:pic>
      <p:sp>
        <p:nvSpPr>
          <p:cNvPr id="3" name="Text 0"/>
          <p:cNvSpPr/>
          <p:nvPr/>
        </p:nvSpPr>
        <p:spPr>
          <a:xfrm>
            <a:off x="1097280" y="493776"/>
            <a:ext cx="2743200" cy="447949"/>
          </a:xfrm>
          <a:prstGeom prst="rect">
            <a:avLst/>
          </a:prstGeom>
          <a:noFill/>
          <a:ln/>
        </p:spPr>
        <p:txBody>
          <a:bodyPr wrap="square" lIns="0" tIns="0" rIns="0" bIns="0" rtlCol="0" anchor="ctr"/>
          <a:lstStyle/>
          <a:p>
            <a:pPr indent="0" marL="0">
              <a:buNone/>
            </a:pPr>
            <a:r>
              <a:rPr lang="en-US" sz="1800" b="1" dirty="0">
                <a:solidFill>
                  <a:schemeClr val="accent5"/>
                </a:solidFill>
              </a:rPr>
              <a:t>LimeJournal</a:t>
            </a:r>
            <a:endParaRPr lang="en-US" sz="1800" dirty="0"/>
          </a:p>
        </p:txBody>
      </p:sp>
      <p:sp>
        <p:nvSpPr>
          <p:cNvPr id="4" name="Text 1"/>
          <p:cNvSpPr/>
          <p:nvPr>
            <p:ph idx="102" type="body" hasCustomPrompt="1"/>
          </p:nvPr>
        </p:nvSpPr>
        <p:spPr>
          <a:xfrm>
            <a:off x="548640" y="1783080"/>
            <a:ext cx="7315200" cy="310896"/>
          </a:xfrm>
          <a:prstGeom prst="rect">
            <a:avLst/>
          </a:prstGeom>
          <a:noFill/>
          <a:ln/>
        </p:spPr>
        <p:txBody>
          <a:bodyPr wrap="square" rtlCol="0"/>
          <a:lstStyle>
            <a:lvl1pPr algn="l" indent="0" marL="0">
              <a:buNone/>
              <a:defRPr cap="all" lang="en-US" sz="1300" b="1" spc="200" kern="0" dirty="0">
                <a:solidFill>
                  <a:schemeClr val="accent5"/>
                </a:solidFill>
              </a:defRPr>
            </a:lvl1pPr>
          </a:lstStyle>
          <a:p>
            <a:pPr algn="l" indent="0" marL="0">
              <a:buNone/>
            </a:pPr>
            <a:r>
              <a:rPr cap="all" lang="en-US" sz="1300" b="1" spc="200" kern="0" dirty="0">
                <a:solidFill>
                  <a:schemeClr val="accent5"/>
                </a:solidFill>
              </a:rPr>
              <a:t>KICKER</a:t>
            </a:r>
            <a:endParaRPr cap="all" lang="en-US" sz="1300" dirty="0"/>
          </a:p>
        </p:txBody>
      </p:sp>
      <p:sp>
        <p:nvSpPr>
          <p:cNvPr id="5" name="Text 1"/>
          <p:cNvSpPr/>
          <p:nvPr>
            <p:ph idx="103" type="title" hasCustomPrompt="1"/>
          </p:nvPr>
        </p:nvSpPr>
        <p:spPr>
          <a:xfrm>
            <a:off x="548640" y="2194560"/>
            <a:ext cx="7132320" cy="1737360"/>
          </a:xfrm>
          <a:prstGeom prst="rect">
            <a:avLst/>
          </a:prstGeom>
          <a:noFill/>
          <a:ln/>
        </p:spPr>
        <p:txBody>
          <a:bodyPr wrap="square" rtlCol="0"/>
          <a:lstStyle>
            <a:lvl1pPr algn="l" indent="0" marL="0">
              <a:lnSpc>
                <a:spcPct val="90000"/>
              </a:lnSpc>
              <a:buNone/>
              <a:defRPr lang="en-US" sz="9600" b="1" dirty="0">
                <a:solidFill>
                  <a:schemeClr val="accent5"/>
                </a:solidFill>
              </a:defRPr>
            </a:lvl1pPr>
          </a:lstStyle>
          <a:p>
            <a:pPr algn="l" indent="0" marL="0">
              <a:lnSpc>
                <a:spcPct val="90000"/>
              </a:lnSpc>
              <a:buNone/>
            </a:pPr>
            <a:r>
              <a:rPr lang="en-US" sz="9600" b="1" dirty="0">
                <a:solidFill>
                  <a:schemeClr val="accent5"/>
                </a:solidFill>
              </a:rPr>
              <a:t>Call to Action</a:t>
            </a:r>
            <a:endParaRPr lang="en-US" sz="9600" dirty="0"/>
          </a:p>
        </p:txBody>
      </p:sp>
      <p:sp>
        <p:nvSpPr>
          <p:cNvPr id="6" name="Text 1"/>
          <p:cNvSpPr/>
          <p:nvPr>
            <p:ph idx="104" type="body" hasCustomPrompt="1"/>
          </p:nvPr>
        </p:nvSpPr>
        <p:spPr>
          <a:xfrm>
            <a:off x="548640" y="4069080"/>
            <a:ext cx="6217920" cy="9144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r>
              <a:rPr lang="en-US" sz="2000" dirty="0">
                <a:solidFill>
                  <a:schemeClr val="accent5"/>
                </a:solidFill>
              </a:rPr>
              <a:t>Was jetzt zu tun ist</a:t>
            </a:r>
            <a:endParaRPr lang="en-US" sz="2000" dirty="0"/>
          </a:p>
        </p:txBody>
      </p:sp>
      <p:sp>
        <p:nvSpPr>
          <p:cNvPr id="7" name="Text 1"/>
          <p:cNvSpPr/>
          <p:nvPr>
            <p:ph idx="105" type="body" hasCustomPrompt="1"/>
          </p:nvPr>
        </p:nvSpPr>
        <p:spPr>
          <a:xfrm>
            <a:off x="548640" y="5166360"/>
            <a:ext cx="6217920" cy="548640"/>
          </a:xfrm>
          <a:prstGeom prst="rect">
            <a:avLst/>
          </a:prstGeom>
          <a:noFill/>
          <a:ln/>
        </p:spPr>
        <p:txBody>
          <a:bodyPr wrap="square" rtlCol="0"/>
          <a:lstStyle>
            <a:lvl1pPr algn="l" indent="0" marL="0">
              <a:buNone/>
              <a:defRPr lang="en-US" sz="2800" b="1" dirty="0">
                <a:solidFill>
                  <a:schemeClr val="accent5"/>
                </a:solidFill>
              </a:defRPr>
            </a:lvl1pPr>
          </a:lstStyle>
          <a:p>
            <a:pPr algn="l" indent="0" marL="0">
              <a:buNone/>
            </a:pPr>
            <a:r>
              <a:rPr lang="en-US" sz="2800" b="1" dirty="0">
                <a:solidFill>
                  <a:schemeClr val="accent5"/>
                </a:solidFill>
              </a:rPr>
              <a:t>limejournal.org</a:t>
            </a:r>
            <a:endParaRPr lang="en-US" sz="28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J Leer">
    <p:bg>
      <p:bgPr>
        <a:solidFill>
          <a:srgbClr val="FAF7F2"/>
        </a:solidFill>
      </p:bgPr>
    </p:bg>
    <p:spTree>
      <p:nvGrpSpPr>
        <p:cNvPr id="1" name=""/>
        <p:cNvGrpSpPr/>
        <p:nvPr/>
      </p:nvGrpSpPr>
      <p:grpSpPr>
        <a:xfrm>
          <a:off x="0" y="0"/>
          <a:ext cx="0" cy="0"/>
          <a:chOff x="0" y="0"/>
          <a:chExt cx="0" cy="0"/>
        </a:xfrm>
      </p:grpSpPr>
      <p:pic>
        <p:nvPicPr>
          <p:cNvPr id="2" name="Image 0" descr="/private/tmp/claude-501/-Users-christianklang-Documents-GitHub-journaling-app/8b11f4dc-a1ad-412a-935e-f4856a6567a5/scratchpad/assets/lime.png">    </p:cNvPr>
          <p:cNvPicPr>
            <a:picLocks noChangeAspect="1"/>
          </p:cNvPicPr>
          <p:nvPr/>
        </p:nvPicPr>
        <p:blipFill>
          <a:blip r:embed="rId1"/>
          <a:stretch>
            <a:fillRect/>
          </a:stretch>
        </p:blipFill>
        <p:spPr>
          <a:xfrm>
            <a:off x="548640" y="6345936"/>
            <a:ext cx="310896" cy="229990"/>
          </a:xfrm>
          <a:prstGeom prst="rect">
            <a:avLst/>
          </a:prstGeom>
        </p:spPr>
      </p:pic>
      <p:sp>
        <p:nvSpPr>
          <p:cNvPr id="3" name="Text 0"/>
          <p:cNvSpPr/>
          <p:nvPr/>
        </p:nvSpPr>
        <p:spPr>
          <a:xfrm>
            <a:off x="950976" y="6254496"/>
            <a:ext cx="2743200" cy="339718"/>
          </a:xfrm>
          <a:prstGeom prst="rect">
            <a:avLst/>
          </a:prstGeom>
          <a:noFill/>
          <a:ln/>
        </p:spPr>
        <p:txBody>
          <a:bodyPr wrap="square" lIns="0" tIns="0" rIns="0" bIns="0" rtlCol="0" anchor="ctr"/>
          <a:lstStyle/>
          <a:p>
            <a:pPr indent="0" marL="0">
              <a:buNone/>
            </a:pPr>
            <a:r>
              <a:rPr lang="en-US" sz="1300" b="1" dirty="0">
                <a:solidFill>
                  <a:schemeClr val="tx1"/>
                </a:solidFill>
              </a:rPr>
              <a:t>LimeJournal</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177/0018720812448394" TargetMode="External"/><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6.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limejournal.org" TargetMode="External"/><Relationship Id="rId2" Type="http://schemas.openxmlformats.org/officeDocument/2006/relationships/hyperlink" Target="mailto:johanna.heisgen@hwr-berlin.de" TargetMode="External"/><Relationship Id="rId3" Type="http://schemas.openxmlformats.org/officeDocument/2006/relationships/image" Target="../media/image-6-1.png"/><Relationship Id="rId4" Type="http://schemas.openxmlformats.org/officeDocument/2006/relationships/slideLayout" Target="../slideLayouts/slideLayout8.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187452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2"/>
                </a:solidFill>
              </a:rPr>
              <a:t>Einladung zur Studie</a:t>
            </a:r>
            <a:endParaRPr lang="en-US" sz="1300" dirty="0"/>
          </a:p>
        </p:txBody>
      </p:sp>
      <p:sp>
        <p:nvSpPr>
          <p:cNvPr id="3" name="Text 1"/>
          <p:cNvSpPr/>
          <p:nvPr>
            <p:ph idx="103" type="title" hasCustomPrompt="1"/>
          </p:nvPr>
        </p:nvSpPr>
        <p:spPr>
          <a:xfrm>
            <a:off x="548640" y="2286000"/>
            <a:ext cx="6766560" cy="2194560"/>
          </a:xfrm>
          <a:prstGeom prst="rect">
            <a:avLst/>
          </a:prstGeom>
          <a:noFill/>
          <a:ln/>
        </p:spPr>
        <p:txBody>
          <a:bodyPr wrap="square" lIns="0" tIns="0" rIns="0" bIns="0" rtlCol="0" anchor="t"/>
          <a:lstStyle/>
          <a:p>
            <a:pPr algn="l" indent="0" marL="0">
              <a:lnSpc>
                <a:spcPct val="95000"/>
              </a:lnSpc>
              <a:buNone/>
            </a:pPr>
            <a:r>
              <a:rPr lang="en-US" sz="6000" b="1" dirty="0">
                <a:solidFill>
                  <a:schemeClr val="tx1"/>
                </a:solidFill>
              </a:rPr>
              <a:t>Schau zurück.</a:t>
            </a:r>
            <a:endParaRPr lang="en-US" sz="6000" dirty="0"/>
          </a:p>
          <a:p>
            <a:pPr algn="l" indent="0" marL="0">
              <a:lnSpc>
                <a:spcPct val="95000"/>
              </a:lnSpc>
              <a:buNone/>
            </a:pPr>
            <a:r>
              <a:rPr lang="en-US" sz="6000" b="1" dirty="0">
                <a:solidFill>
                  <a:schemeClr val="accent2"/>
                </a:solidFill>
              </a:rPr>
              <a:t>Komm weiter.</a:t>
            </a:r>
            <a:endParaRPr lang="en-US" sz="6000" dirty="0"/>
          </a:p>
        </p:txBody>
      </p:sp>
      <p:sp>
        <p:nvSpPr>
          <p:cNvPr id="4" name="Text 1"/>
          <p:cNvSpPr/>
          <p:nvPr>
            <p:ph idx="104" type="body" hasCustomPrompt="1"/>
          </p:nvPr>
        </p:nvSpPr>
        <p:spPr>
          <a:xfrm>
            <a:off x="548640" y="4663440"/>
            <a:ext cx="6217920" cy="822960"/>
          </a:xfrm>
          <a:prstGeom prst="rect">
            <a:avLst/>
          </a:prstGeom>
          <a:noFill/>
          <a:ln/>
        </p:spPr>
        <p:txBody>
          <a:bodyPr wrap="square" lIns="0" tIns="0" rIns="0" bIns="0" rtlCol="0" anchor="t"/>
          <a:lstStyle/>
          <a:p>
            <a:pPr algn="l" indent="0" marL="0">
              <a:buNone/>
            </a:pPr>
            <a:r>
              <a:rPr lang="en-US" sz="2000" dirty="0">
                <a:solidFill>
                  <a:schemeClr val="tx2"/>
                </a:solidFill>
              </a:rPr>
              <a:t>LimeJournal – dein Audio-Tagebuch für deine Projekt- und Gründungsarbeit</a:t>
            </a:r>
            <a:endParaRPr lang="en-US" sz="2000" dirty="0"/>
          </a:p>
        </p:txBody>
      </p:sp>
      <p:sp>
        <p:nvSpPr>
          <p:cNvPr id="5" name="Titel-Ring Spur"/>
          <p:cNvSpPr/>
          <p:nvPr/>
        </p:nvSpPr>
        <p:spPr>
          <a:xfrm>
            <a:off x="7818120" y="1325880"/>
            <a:ext cx="3931920" cy="3931920"/>
          </a:xfrm>
          <a:prstGeom prst="blockArc">
            <a:avLst>
              <a:gd name="adj1" fmla="val 0"/>
              <a:gd name="adj2" fmla="val 21594000"/>
              <a:gd name="adj3" fmla="val 4000"/>
            </a:avLst>
          </a:prstGeom>
          <a:solidFill>
            <a:schemeClr val="bg2"/>
          </a:solidFill>
          <a:ln/>
        </p:spPr>
      </p:sp>
      <p:sp>
        <p:nvSpPr>
          <p:cNvPr id="6" name="Titel-Ring Fortschritt"/>
          <p:cNvSpPr/>
          <p:nvPr/>
        </p:nvSpPr>
        <p:spPr>
          <a:xfrm>
            <a:off x="7818120" y="1325880"/>
            <a:ext cx="3931920" cy="3931920"/>
          </a:xfrm>
          <a:prstGeom prst="blockArc">
            <a:avLst>
              <a:gd name="adj1" fmla="val 16200000"/>
              <a:gd name="adj2" fmla="val 10800000"/>
              <a:gd name="adj3" fmla="val 4000"/>
            </a:avLst>
          </a:prstGeom>
          <a:solidFill>
            <a:schemeClr val="accent1"/>
          </a:solidFill>
          <a:ln/>
        </p:spPr>
      </p:sp>
      <p:pic>
        <p:nvPicPr>
          <p:cNvPr id="7" name="Limette" descr="LimeJournal-Logo: Limettenscheibe">    </p:cNvPr>
          <p:cNvPicPr>
            <a:picLocks noChangeAspect="1"/>
          </p:cNvPicPr>
          <p:nvPr/>
        </p:nvPicPr>
        <p:blipFill>
          <a:blip r:embed="rId1"/>
          <a:stretch>
            <a:fillRect/>
          </a:stretch>
        </p:blipFill>
        <p:spPr>
          <a:xfrm>
            <a:off x="8732520" y="2513932"/>
            <a:ext cx="2103120" cy="15558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2"/>
                </a:solidFill>
              </a:rPr>
              <a:t>Warum Reflexion</a:t>
            </a:r>
            <a:endParaRPr lang="en-US" sz="1300" dirty="0"/>
          </a:p>
        </p:txBody>
      </p:sp>
      <p:sp>
        <p:nvSpPr>
          <p:cNvPr id="3" name="Text 0"/>
          <p:cNvSpPr/>
          <p:nvPr>
            <p:ph idx="101" type="title" hasCustomPrompt="1"/>
          </p:nvPr>
        </p:nvSpPr>
        <p:spPr>
          <a:xfrm>
            <a:off x="548640" y="1645920"/>
            <a:ext cx="10058400" cy="3017520"/>
          </a:xfrm>
          <a:prstGeom prst="rect">
            <a:avLst/>
          </a:prstGeom>
          <a:noFill/>
          <a:ln/>
        </p:spPr>
        <p:txBody>
          <a:bodyPr wrap="square" lIns="0" tIns="0" rIns="0" bIns="0" rtlCol="0" anchor="t"/>
          <a:lstStyle/>
          <a:p>
            <a:pPr algn="l" indent="0" marL="0">
              <a:lnSpc>
                <a:spcPct val="100000"/>
              </a:lnSpc>
              <a:buNone/>
            </a:pPr>
            <a:r>
              <a:rPr lang="en-US" sz="5200" b="1" dirty="0">
                <a:solidFill>
                  <a:schemeClr val="tx1"/>
                </a:solidFill>
              </a:rPr>
              <a:t>Erfahrung allein macht dich nicht besser. </a:t>
            </a:r>
            <a:pPr algn="l" indent="0" marL="0">
              <a:lnSpc>
                <a:spcPct val="100000"/>
              </a:lnSpc>
              <a:buNone/>
            </a:pPr>
            <a:r>
              <a:rPr lang="en-US" sz="5200" b="1" dirty="0">
                <a:solidFill>
                  <a:schemeClr val="accent2"/>
                </a:solidFill>
              </a:rPr>
              <a:t>Der Blick zurück schon.</a:t>
            </a:r>
            <a:endParaRPr lang="en-US" sz="5200" dirty="0"/>
          </a:p>
        </p:txBody>
      </p:sp>
      <p:sp>
        <p:nvSpPr>
          <p:cNvPr id="4" name="Text 0"/>
          <p:cNvSpPr/>
          <p:nvPr>
            <p:ph idx="102" type="body" hasCustomPrompt="1"/>
          </p:nvPr>
        </p:nvSpPr>
        <p:spPr>
          <a:xfrm>
            <a:off x="548640" y="4846320"/>
            <a:ext cx="7315200" cy="548640"/>
          </a:xfrm>
          <a:prstGeom prst="rect">
            <a:avLst/>
          </a:prstGeom>
          <a:noFill/>
          <a:ln/>
        </p:spPr>
        <p:txBody>
          <a:bodyPr wrap="square" lIns="0" tIns="0" rIns="0" bIns="0" rtlCol="0" anchor="t"/>
          <a:lstStyle/>
          <a:p>
            <a:pPr algn="l" indent="0" marL="0">
              <a:buNone/>
            </a:pPr>
            <a:r>
              <a:rPr lang="en-US" sz="1800" dirty="0">
                <a:solidFill>
                  <a:schemeClr val="tx2"/>
                </a:solidFill>
              </a:rPr>
              <a:t>Wer gezielt zurückblickt, schneidet im Schnitt </a:t>
            </a:r>
            <a:pPr algn="l" indent="0" marL="0">
              <a:buNone/>
            </a:pPr>
            <a:r>
              <a:rPr lang="en-US" sz="1800" b="1" dirty="0">
                <a:solidFill>
                  <a:schemeClr val="accent2"/>
                </a:solidFill>
              </a:rPr>
              <a:t>rund 25 % besser</a:t>
            </a:r>
            <a:pPr algn="l" indent="0" marL="0">
              <a:buNone/>
            </a:pPr>
            <a:r>
              <a:rPr lang="en-US" sz="1800" dirty="0">
                <a:solidFill>
                  <a:schemeClr val="tx2"/>
                </a:solidFill>
              </a:rPr>
              <a:t> ab.</a:t>
            </a:r>
            <a:endParaRPr lang="en-US" sz="1800" dirty="0"/>
          </a:p>
        </p:txBody>
      </p:sp>
      <p:sp>
        <p:nvSpPr>
          <p:cNvPr id="5" name="Quelle">
            <a:hlinkClick r:id="rId1" tooltip=""/>
          </p:cNvPr>
          <p:cNvSpPr txBox="1"/>
          <p:nvPr/>
        </p:nvSpPr>
        <p:spPr>
          <a:xfrm>
            <a:off x="548640" y="5394960"/>
            <a:ext cx="9144000" cy="320040"/>
          </a:xfrm>
          <a:prstGeom prst="rect">
            <a:avLst/>
          </a:prstGeom>
          <a:noFill/>
          <a:ln/>
        </p:spPr>
        <p:txBody>
          <a:bodyPr wrap="square" lIns="0" tIns="0" rIns="0" bIns="0" rtlCol="0" anchor="t"/>
          <a:lstStyle/>
          <a:p>
            <a:pPr algn="l" indent="0" marL="0">
              <a:buNone/>
            </a:pPr>
            <a:r>
              <a:rPr lang="en-US" sz="13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Meta-Analyse aus 46 Stichproben mit 2.136 Personen · Tannenbaum &amp; Cerasoli (2013), Human Factors 55(1)</a:t>
            </a:r>
            <a:endParaRPr lang="en-US" sz="13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2"/>
                </a:solidFill>
              </a:rPr>
              <a:t>Reflexivität</a:t>
            </a:r>
            <a:endParaRPr lang="en-US" sz="1300" dirty="0"/>
          </a:p>
        </p:txBody>
      </p:sp>
      <p:sp>
        <p:nvSpPr>
          <p:cNvPr id="3" name="Text 0"/>
          <p:cNvSpPr/>
          <p:nvPr>
            <p:ph idx="101" type="title" hasCustomPrompt="1"/>
          </p:nvPr>
        </p:nvSpPr>
        <p:spPr>
          <a:xfrm>
            <a:off x="548640" y="82296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Wirkt im Projekt – und im Leben</a:t>
            </a:r>
            <a:endParaRPr lang="en-US" sz="3600" dirty="0"/>
          </a:p>
        </p:txBody>
      </p:sp>
      <p:sp>
        <p:nvSpPr>
          <p:cNvPr id="4" name="Icon links Kreis"/>
          <p:cNvSpPr/>
          <p:nvPr/>
        </p:nvSpPr>
        <p:spPr>
          <a:xfrm>
            <a:off x="914400" y="2194560"/>
            <a:ext cx="640080" cy="640080"/>
          </a:xfrm>
          <a:prstGeom prst="ellipse">
            <a:avLst/>
          </a:prstGeom>
          <a:solidFill>
            <a:schemeClr val="accent3"/>
          </a:solidFill>
          <a:ln/>
        </p:spPr>
      </p:sp>
      <p:pic>
        <p:nvPicPr>
          <p:cNvPr id="5" name="Icon links" descr="preencoded.png">    </p:cNvPr>
          <p:cNvPicPr>
            <a:picLocks noChangeAspect="1"/>
          </p:cNvPicPr>
          <p:nvPr/>
        </p:nvPicPr>
        <p:blipFill>
          <a:blip r:embed="rId1"/>
          <a:stretch>
            <a:fillRect/>
          </a:stretch>
        </p:blipFill>
        <p:spPr>
          <a:xfrm>
            <a:off x="1074420" y="2354580"/>
            <a:ext cx="320040" cy="320040"/>
          </a:xfrm>
          <a:prstGeom prst="rect">
            <a:avLst/>
          </a:prstGeom>
        </p:spPr>
      </p:pic>
      <p:sp>
        <p:nvSpPr>
          <p:cNvPr id="6" name="Icon rechts Kreis"/>
          <p:cNvSpPr/>
          <p:nvPr/>
        </p:nvSpPr>
        <p:spPr>
          <a:xfrm>
            <a:off x="6677863" y="2194560"/>
            <a:ext cx="640080" cy="640080"/>
          </a:xfrm>
          <a:prstGeom prst="ellipse">
            <a:avLst/>
          </a:prstGeom>
          <a:solidFill>
            <a:schemeClr val="accent3"/>
          </a:solidFill>
          <a:ln/>
        </p:spPr>
      </p:sp>
      <p:pic>
        <p:nvPicPr>
          <p:cNvPr id="7" name="Icon rechts" descr="preencoded.png">    </p:cNvPr>
          <p:cNvPicPr>
            <a:picLocks noChangeAspect="1"/>
          </p:cNvPicPr>
          <p:nvPr/>
        </p:nvPicPr>
        <p:blipFill>
          <a:blip r:embed="rId2"/>
          <a:stretch>
            <a:fillRect/>
          </a:stretch>
        </p:blipFill>
        <p:spPr>
          <a:xfrm>
            <a:off x="6837883" y="2354580"/>
            <a:ext cx="320040" cy="320040"/>
          </a:xfrm>
          <a:prstGeom prst="rect">
            <a:avLst/>
          </a:prstGeom>
        </p:spPr>
      </p:pic>
      <p:sp>
        <p:nvSpPr>
          <p:cNvPr id="8" name="Text 1"/>
          <p:cNvSpPr/>
          <p:nvPr>
            <p:ph idx="103" type="body" hasCustomPrompt="1"/>
          </p:nvPr>
        </p:nvSpPr>
        <p:spPr>
          <a:xfrm>
            <a:off x="914400" y="3017520"/>
            <a:ext cx="4599432" cy="457200"/>
          </a:xfrm>
          <a:prstGeom prst="rect">
            <a:avLst/>
          </a:prstGeom>
          <a:noFill/>
          <a:ln/>
        </p:spPr>
        <p:txBody>
          <a:bodyPr wrap="square" lIns="0" tIns="0" rIns="0" bIns="0" rtlCol="0" anchor="t"/>
          <a:lstStyle/>
          <a:p>
            <a:pPr algn="l" indent="0" marL="0">
              <a:buNone/>
            </a:pPr>
            <a:r>
              <a:rPr lang="en-US" sz="2400" b="1" dirty="0">
                <a:solidFill>
                  <a:schemeClr val="tx1"/>
                </a:solidFill>
              </a:rPr>
              <a:t>Projekt, Gründung, Beruf</a:t>
            </a:r>
            <a:endParaRPr lang="en-US" sz="2400" dirty="0"/>
          </a:p>
        </p:txBody>
      </p:sp>
      <p:sp>
        <p:nvSpPr>
          <p:cNvPr id="9" name="Text 1"/>
          <p:cNvSpPr/>
          <p:nvPr>
            <p:ph idx="104" type="body" hasCustomPrompt="1"/>
          </p:nvPr>
        </p:nvSpPr>
        <p:spPr>
          <a:xfrm>
            <a:off x="914400" y="3611880"/>
            <a:ext cx="4599432" cy="2103120"/>
          </a:xfrm>
          <a:prstGeom prst="rect">
            <a:avLst/>
          </a:prstGeom>
          <a:noFill/>
          <a:ln/>
        </p:spPr>
        <p:txBody>
          <a:bodyPr wrap="square" lIns="0" tIns="0" rIns="0" bIns="0" rtlCol="0" anchor="t"/>
          <a:lstStyle/>
          <a:p>
            <a:pPr algn="l" marL="342900" indent="-342900">
              <a:spcAft>
                <a:spcPts val="800"/>
              </a:spcAft>
              <a:buSzPct val="100000"/>
              <a:buChar char="•"/>
            </a:pPr>
            <a:r>
              <a:rPr lang="en-US" sz="1700" dirty="0">
                <a:solidFill>
                  <a:schemeClr val="tx1"/>
                </a:solidFill>
              </a:rPr>
              <a:t>Entscheidungen bewusster treffen</a:t>
            </a:r>
            <a:endParaRPr lang="en-US" sz="1700" dirty="0"/>
          </a:p>
          <a:p>
            <a:pPr algn="l" marL="342900" indent="-342900">
              <a:spcAft>
                <a:spcPts val="800"/>
              </a:spcAft>
              <a:buSzPct val="100000"/>
              <a:buChar char="•"/>
            </a:pPr>
            <a:r>
              <a:rPr lang="en-US" sz="1700" dirty="0">
                <a:solidFill>
                  <a:schemeClr val="tx1"/>
                </a:solidFill>
              </a:rPr>
              <a:t>Aus Rückschlägen schneller lernen</a:t>
            </a:r>
            <a:endParaRPr lang="en-US" sz="1700" dirty="0"/>
          </a:p>
          <a:p>
            <a:pPr algn="l" marL="342900" indent="-342900">
              <a:spcAft>
                <a:spcPts val="800"/>
              </a:spcAft>
              <a:buSzPct val="100000"/>
              <a:buChar char="•"/>
            </a:pPr>
            <a:r>
              <a:rPr lang="en-US" sz="1700" dirty="0">
                <a:solidFill>
                  <a:schemeClr val="tx1"/>
                </a:solidFill>
              </a:rPr>
              <a:t>Fortschritt sichtbar machen</a:t>
            </a:r>
            <a:endParaRPr lang="en-US" sz="1700" dirty="0"/>
          </a:p>
        </p:txBody>
      </p:sp>
      <p:sp>
        <p:nvSpPr>
          <p:cNvPr id="10" name="Text 2"/>
          <p:cNvSpPr/>
          <p:nvPr>
            <p:ph idx="106" type="body" hasCustomPrompt="1"/>
          </p:nvPr>
        </p:nvSpPr>
        <p:spPr>
          <a:xfrm>
            <a:off x="6677863" y="3017520"/>
            <a:ext cx="4599432" cy="457200"/>
          </a:xfrm>
          <a:prstGeom prst="rect">
            <a:avLst/>
          </a:prstGeom>
          <a:noFill/>
          <a:ln/>
        </p:spPr>
        <p:txBody>
          <a:bodyPr wrap="square" lIns="0" tIns="0" rIns="0" bIns="0" rtlCol="0" anchor="t"/>
          <a:lstStyle/>
          <a:p>
            <a:pPr algn="l" indent="0" marL="0">
              <a:buNone/>
            </a:pPr>
            <a:r>
              <a:rPr lang="en-US" sz="2400" b="1" dirty="0">
                <a:solidFill>
                  <a:schemeClr val="tx1"/>
                </a:solidFill>
              </a:rPr>
              <a:t>Privatleben</a:t>
            </a:r>
            <a:endParaRPr lang="en-US" sz="2400" dirty="0"/>
          </a:p>
        </p:txBody>
      </p:sp>
      <p:sp>
        <p:nvSpPr>
          <p:cNvPr id="11" name="Text 2"/>
          <p:cNvSpPr/>
          <p:nvPr>
            <p:ph idx="107" type="body" hasCustomPrompt="1"/>
          </p:nvPr>
        </p:nvSpPr>
        <p:spPr>
          <a:xfrm>
            <a:off x="6677863" y="3611880"/>
            <a:ext cx="4599432" cy="2103120"/>
          </a:xfrm>
          <a:prstGeom prst="rect">
            <a:avLst/>
          </a:prstGeom>
          <a:noFill/>
          <a:ln/>
        </p:spPr>
        <p:txBody>
          <a:bodyPr wrap="square" lIns="0" tIns="0" rIns="0" bIns="0" rtlCol="0" anchor="t"/>
          <a:lstStyle/>
          <a:p>
            <a:pPr algn="l" marL="342900" indent="-342900">
              <a:spcAft>
                <a:spcPts val="800"/>
              </a:spcAft>
              <a:buSzPct val="100000"/>
              <a:buChar char="•"/>
            </a:pPr>
            <a:r>
              <a:rPr lang="en-US" sz="1700" dirty="0">
                <a:solidFill>
                  <a:schemeClr val="tx1"/>
                </a:solidFill>
              </a:rPr>
              <a:t>Stress früher bemerken</a:t>
            </a:r>
            <a:endParaRPr lang="en-US" sz="1700" dirty="0"/>
          </a:p>
          <a:p>
            <a:pPr algn="l" marL="342900" indent="-342900">
              <a:spcAft>
                <a:spcPts val="800"/>
              </a:spcAft>
              <a:buSzPct val="100000"/>
              <a:buChar char="•"/>
            </a:pPr>
            <a:r>
              <a:rPr lang="en-US" sz="1700" dirty="0">
                <a:solidFill>
                  <a:schemeClr val="tx1"/>
                </a:solidFill>
              </a:rPr>
              <a:t>Wissen, was dir Energie gibt</a:t>
            </a:r>
            <a:endParaRPr lang="en-US" sz="1700" dirty="0"/>
          </a:p>
          <a:p>
            <a:pPr algn="l" marL="342900" indent="-342900">
              <a:spcAft>
                <a:spcPts val="800"/>
              </a:spcAft>
              <a:buSzPct val="100000"/>
              <a:buChar char="•"/>
            </a:pPr>
            <a:r>
              <a:rPr lang="en-US" sz="1700" dirty="0">
                <a:solidFill>
                  <a:schemeClr val="tx1"/>
                </a:solidFill>
              </a:rPr>
              <a:t>Gewohnheiten gezielt ändern</a:t>
            </a:r>
            <a:endParaRPr lang="en-US" sz="17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2"/>
                </a:solidFill>
              </a:rPr>
              <a:t>Die App</a:t>
            </a:r>
            <a:endParaRPr lang="en-US" sz="1300" dirty="0"/>
          </a:p>
        </p:txBody>
      </p:sp>
      <p:sp>
        <p:nvSpPr>
          <p:cNvPr id="3" name="Text 0"/>
          <p:cNvSpPr/>
          <p:nvPr>
            <p:ph idx="101" type="title" hasCustomPrompt="1"/>
          </p:nvPr>
        </p:nvSpPr>
        <p:spPr>
          <a:xfrm>
            <a:off x="548640" y="82296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So funktioniert LimeJournal</a:t>
            </a:r>
            <a:endParaRPr lang="en-US" sz="3600" dirty="0"/>
          </a:p>
        </p:txBody>
      </p:sp>
      <p:sp>
        <p:nvSpPr>
          <p:cNvPr id="4" name="Karte 1"/>
          <p:cNvSpPr/>
          <p:nvPr/>
        </p:nvSpPr>
        <p:spPr>
          <a:xfrm>
            <a:off x="548640" y="1874520"/>
            <a:ext cx="3515258" cy="4069080"/>
          </a:xfrm>
          <a:prstGeom prst="roundRect">
            <a:avLst>
              <a:gd name="adj" fmla="val 4682"/>
            </a:avLst>
          </a:prstGeom>
          <a:solidFill>
            <a:schemeClr val="bg2"/>
          </a:solidFill>
          <a:ln w="12700">
            <a:solidFill>
              <a:schemeClr val="accent4"/>
            </a:solidFill>
            <a:prstDash val="solid"/>
          </a:ln>
        </p:spPr>
      </p:sp>
      <p:sp>
        <p:nvSpPr>
          <p:cNvPr id="5" name="Karte 1 Icon Kreis"/>
          <p:cNvSpPr/>
          <p:nvPr/>
        </p:nvSpPr>
        <p:spPr>
          <a:xfrm>
            <a:off x="914400" y="2240280"/>
            <a:ext cx="822960" cy="822960"/>
          </a:xfrm>
          <a:prstGeom prst="ellipse">
            <a:avLst/>
          </a:prstGeom>
          <a:solidFill>
            <a:schemeClr val="accent3"/>
          </a:solidFill>
          <a:ln/>
        </p:spPr>
      </p:sp>
      <p:pic>
        <p:nvPicPr>
          <p:cNvPr id="6" name="Karte 1 Icon" descr="preencoded.png">    </p:cNvPr>
          <p:cNvPicPr>
            <a:picLocks noChangeAspect="1"/>
          </p:cNvPicPr>
          <p:nvPr/>
        </p:nvPicPr>
        <p:blipFill>
          <a:blip r:embed="rId1"/>
          <a:stretch>
            <a:fillRect/>
          </a:stretch>
        </p:blipFill>
        <p:spPr>
          <a:xfrm>
            <a:off x="1120140" y="2446020"/>
            <a:ext cx="411480" cy="411480"/>
          </a:xfrm>
          <a:prstGeom prst="rect">
            <a:avLst/>
          </a:prstGeom>
        </p:spPr>
      </p:pic>
      <p:sp>
        <p:nvSpPr>
          <p:cNvPr id="7" name="Karte 1 Titel"/>
          <p:cNvSpPr txBox="1"/>
          <p:nvPr/>
        </p:nvSpPr>
        <p:spPr>
          <a:xfrm>
            <a:off x="914400"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Registrieren</a:t>
            </a:r>
            <a:endParaRPr lang="en-US" sz="2600" dirty="0"/>
          </a:p>
        </p:txBody>
      </p:sp>
      <p:sp>
        <p:nvSpPr>
          <p:cNvPr id="8" name="Karte 1 Text"/>
          <p:cNvSpPr txBox="1"/>
          <p:nvPr/>
        </p:nvSpPr>
        <p:spPr>
          <a:xfrm>
            <a:off x="914400"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Fantasiename und persönlicher Code – keine E-Mail, kein echter Name.</a:t>
            </a:r>
            <a:endParaRPr lang="en-US" sz="1700" dirty="0"/>
          </a:p>
        </p:txBody>
      </p:sp>
      <p:sp>
        <p:nvSpPr>
          <p:cNvPr id="9" name="Karte 2"/>
          <p:cNvSpPr/>
          <p:nvPr/>
        </p:nvSpPr>
        <p:spPr>
          <a:xfrm>
            <a:off x="4338218" y="1874520"/>
            <a:ext cx="3515258" cy="4069080"/>
          </a:xfrm>
          <a:prstGeom prst="roundRect">
            <a:avLst>
              <a:gd name="adj" fmla="val 4682"/>
            </a:avLst>
          </a:prstGeom>
          <a:solidFill>
            <a:schemeClr val="bg2"/>
          </a:solidFill>
          <a:ln w="12700">
            <a:solidFill>
              <a:schemeClr val="accent4"/>
            </a:solidFill>
            <a:prstDash val="solid"/>
          </a:ln>
        </p:spPr>
      </p:sp>
      <p:sp>
        <p:nvSpPr>
          <p:cNvPr id="10" name="Karte 2 Icon Kreis"/>
          <p:cNvSpPr/>
          <p:nvPr/>
        </p:nvSpPr>
        <p:spPr>
          <a:xfrm>
            <a:off x="4703978" y="2240280"/>
            <a:ext cx="822960" cy="822960"/>
          </a:xfrm>
          <a:prstGeom prst="ellipse">
            <a:avLst/>
          </a:prstGeom>
          <a:solidFill>
            <a:schemeClr val="accent3"/>
          </a:solidFill>
          <a:ln/>
        </p:spPr>
      </p:sp>
      <p:pic>
        <p:nvPicPr>
          <p:cNvPr id="11" name="Karte 2 Icon" descr="preencoded.png">    </p:cNvPr>
          <p:cNvPicPr>
            <a:picLocks noChangeAspect="1"/>
          </p:cNvPicPr>
          <p:nvPr/>
        </p:nvPicPr>
        <p:blipFill>
          <a:blip r:embed="rId2"/>
          <a:stretch>
            <a:fillRect/>
          </a:stretch>
        </p:blipFill>
        <p:spPr>
          <a:xfrm>
            <a:off x="4909718" y="2446020"/>
            <a:ext cx="411480" cy="411480"/>
          </a:xfrm>
          <a:prstGeom prst="rect">
            <a:avLst/>
          </a:prstGeom>
        </p:spPr>
      </p:pic>
      <p:sp>
        <p:nvSpPr>
          <p:cNvPr id="12" name="Karte 2 Titel"/>
          <p:cNvSpPr txBox="1"/>
          <p:nvPr/>
        </p:nvSpPr>
        <p:spPr>
          <a:xfrm>
            <a:off x="4703978"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Antworten</a:t>
            </a:r>
            <a:endParaRPr lang="en-US" sz="2600" dirty="0"/>
          </a:p>
        </p:txBody>
      </p:sp>
      <p:sp>
        <p:nvSpPr>
          <p:cNvPr id="13" name="Karte 2 Text"/>
          <p:cNvSpPr txBox="1"/>
          <p:nvPr/>
        </p:nvSpPr>
        <p:spPr>
          <a:xfrm>
            <a:off x="4703978"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[[Zweimal]] pro Woche, je [[5⁠–⁠10]] Minuten: Skala antippen, dann einfach erzählen.</a:t>
            </a:r>
            <a:endParaRPr lang="en-US" sz="1700" dirty="0"/>
          </a:p>
        </p:txBody>
      </p:sp>
      <p:sp>
        <p:nvSpPr>
          <p:cNvPr id="14" name="Karte 3"/>
          <p:cNvSpPr/>
          <p:nvPr/>
        </p:nvSpPr>
        <p:spPr>
          <a:xfrm>
            <a:off x="8127797" y="1874520"/>
            <a:ext cx="3515258" cy="4069080"/>
          </a:xfrm>
          <a:prstGeom prst="roundRect">
            <a:avLst>
              <a:gd name="adj" fmla="val 4682"/>
            </a:avLst>
          </a:prstGeom>
          <a:solidFill>
            <a:schemeClr val="bg2"/>
          </a:solidFill>
          <a:ln w="12700">
            <a:solidFill>
              <a:schemeClr val="accent4"/>
            </a:solidFill>
            <a:prstDash val="solid"/>
          </a:ln>
        </p:spPr>
      </p:sp>
      <p:sp>
        <p:nvSpPr>
          <p:cNvPr id="15" name="Karte 3 Icon Kreis"/>
          <p:cNvSpPr/>
          <p:nvPr/>
        </p:nvSpPr>
        <p:spPr>
          <a:xfrm>
            <a:off x="8493557" y="2240280"/>
            <a:ext cx="822960" cy="822960"/>
          </a:xfrm>
          <a:prstGeom prst="ellipse">
            <a:avLst/>
          </a:prstGeom>
          <a:solidFill>
            <a:schemeClr val="accent3"/>
          </a:solidFill>
          <a:ln/>
        </p:spPr>
      </p:sp>
      <p:pic>
        <p:nvPicPr>
          <p:cNvPr id="16" name="Karte 3 Icon" descr="preencoded.png">    </p:cNvPr>
          <p:cNvPicPr>
            <a:picLocks noChangeAspect="1"/>
          </p:cNvPicPr>
          <p:nvPr/>
        </p:nvPicPr>
        <p:blipFill>
          <a:blip r:embed="rId3"/>
          <a:stretch>
            <a:fillRect/>
          </a:stretch>
        </p:blipFill>
        <p:spPr>
          <a:xfrm>
            <a:off x="8699297" y="2446020"/>
            <a:ext cx="411480" cy="411480"/>
          </a:xfrm>
          <a:prstGeom prst="rect">
            <a:avLst/>
          </a:prstGeom>
        </p:spPr>
      </p:pic>
      <p:sp>
        <p:nvSpPr>
          <p:cNvPr id="17" name="Karte 3 Titel"/>
          <p:cNvSpPr txBox="1"/>
          <p:nvPr/>
        </p:nvSpPr>
        <p:spPr>
          <a:xfrm>
            <a:off x="8493557"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Zurückblicken</a:t>
            </a:r>
            <a:endParaRPr lang="en-US" sz="2600" dirty="0"/>
          </a:p>
        </p:txBody>
      </p:sp>
      <p:sp>
        <p:nvSpPr>
          <p:cNvPr id="18" name="Karte 3 Text"/>
          <p:cNvSpPr txBox="1"/>
          <p:nvPr/>
        </p:nvSpPr>
        <p:spPr>
          <a:xfrm>
            <a:off x="8493557"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Alle deine Einträge jederzeit nachhören und nachlesen.</a:t>
            </a:r>
            <a:endParaRPr lang="en-US" sz="17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2"/>
                </a:solidFill>
              </a:rPr>
              <a:t>Deine Daten</a:t>
            </a:r>
            <a:endParaRPr lang="en-US" sz="1300" dirty="0"/>
          </a:p>
        </p:txBody>
      </p:sp>
      <p:sp>
        <p:nvSpPr>
          <p:cNvPr id="3" name="Text 0"/>
          <p:cNvSpPr/>
          <p:nvPr>
            <p:ph idx="101" type="title" hasCustomPrompt="1"/>
          </p:nvPr>
        </p:nvSpPr>
        <p:spPr>
          <a:xfrm>
            <a:off x="548640" y="82296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Deine Daten, deine Entscheidung</a:t>
            </a:r>
            <a:endParaRPr lang="en-US" sz="3600" dirty="0"/>
          </a:p>
        </p:txBody>
      </p:sp>
      <p:sp>
        <p:nvSpPr>
          <p:cNvPr id="4" name="Karte 1"/>
          <p:cNvSpPr/>
          <p:nvPr/>
        </p:nvSpPr>
        <p:spPr>
          <a:xfrm>
            <a:off x="548640" y="1874520"/>
            <a:ext cx="3515258" cy="4069080"/>
          </a:xfrm>
          <a:prstGeom prst="roundRect">
            <a:avLst>
              <a:gd name="adj" fmla="val 4682"/>
            </a:avLst>
          </a:prstGeom>
          <a:solidFill>
            <a:schemeClr val="bg2"/>
          </a:solidFill>
          <a:ln w="12700">
            <a:solidFill>
              <a:schemeClr val="accent4"/>
            </a:solidFill>
            <a:prstDash val="solid"/>
          </a:ln>
        </p:spPr>
      </p:sp>
      <p:sp>
        <p:nvSpPr>
          <p:cNvPr id="5" name="Karte 1 Icon Kreis"/>
          <p:cNvSpPr/>
          <p:nvPr/>
        </p:nvSpPr>
        <p:spPr>
          <a:xfrm>
            <a:off x="914400" y="2240280"/>
            <a:ext cx="822960" cy="822960"/>
          </a:xfrm>
          <a:prstGeom prst="ellipse">
            <a:avLst/>
          </a:prstGeom>
          <a:solidFill>
            <a:schemeClr val="accent3"/>
          </a:solidFill>
          <a:ln/>
        </p:spPr>
      </p:sp>
      <p:pic>
        <p:nvPicPr>
          <p:cNvPr id="6" name="Karte 1 Icon" descr="preencoded.png">    </p:cNvPr>
          <p:cNvPicPr>
            <a:picLocks noChangeAspect="1"/>
          </p:cNvPicPr>
          <p:nvPr/>
        </p:nvPicPr>
        <p:blipFill>
          <a:blip r:embed="rId1"/>
          <a:stretch>
            <a:fillRect/>
          </a:stretch>
        </p:blipFill>
        <p:spPr>
          <a:xfrm>
            <a:off x="1120140" y="2446020"/>
            <a:ext cx="411480" cy="411480"/>
          </a:xfrm>
          <a:prstGeom prst="rect">
            <a:avLst/>
          </a:prstGeom>
        </p:spPr>
      </p:pic>
      <p:sp>
        <p:nvSpPr>
          <p:cNvPr id="7" name="Karte 1 Titel"/>
          <p:cNvSpPr txBox="1"/>
          <p:nvPr/>
        </p:nvSpPr>
        <p:spPr>
          <a:xfrm>
            <a:off x="914400"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Freiwillig</a:t>
            </a:r>
            <a:endParaRPr lang="en-US" sz="2600" dirty="0"/>
          </a:p>
        </p:txBody>
      </p:sp>
      <p:sp>
        <p:nvSpPr>
          <p:cNvPr id="8" name="Karte 1 Text"/>
          <p:cNvSpPr txBox="1"/>
          <p:nvPr/>
        </p:nvSpPr>
        <p:spPr>
          <a:xfrm>
            <a:off x="914400"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Ob du mitmachst oder nicht, hat keinen Einfluss auf deine Noten.</a:t>
            </a:r>
            <a:endParaRPr lang="en-US" sz="1700" dirty="0"/>
          </a:p>
        </p:txBody>
      </p:sp>
      <p:sp>
        <p:nvSpPr>
          <p:cNvPr id="9" name="Karte 2"/>
          <p:cNvSpPr/>
          <p:nvPr/>
        </p:nvSpPr>
        <p:spPr>
          <a:xfrm>
            <a:off x="4338218" y="1874520"/>
            <a:ext cx="3515258" cy="4069080"/>
          </a:xfrm>
          <a:prstGeom prst="roundRect">
            <a:avLst>
              <a:gd name="adj" fmla="val 4682"/>
            </a:avLst>
          </a:prstGeom>
          <a:solidFill>
            <a:schemeClr val="bg2"/>
          </a:solidFill>
          <a:ln w="12700">
            <a:solidFill>
              <a:schemeClr val="accent4"/>
            </a:solidFill>
            <a:prstDash val="solid"/>
          </a:ln>
        </p:spPr>
      </p:sp>
      <p:sp>
        <p:nvSpPr>
          <p:cNvPr id="10" name="Karte 2 Icon Kreis"/>
          <p:cNvSpPr/>
          <p:nvPr/>
        </p:nvSpPr>
        <p:spPr>
          <a:xfrm>
            <a:off x="4703978" y="2240280"/>
            <a:ext cx="822960" cy="822960"/>
          </a:xfrm>
          <a:prstGeom prst="ellipse">
            <a:avLst/>
          </a:prstGeom>
          <a:solidFill>
            <a:schemeClr val="accent3"/>
          </a:solidFill>
          <a:ln/>
        </p:spPr>
      </p:sp>
      <p:pic>
        <p:nvPicPr>
          <p:cNvPr id="11" name="Karte 2 Icon" descr="preencoded.png">    </p:cNvPr>
          <p:cNvPicPr>
            <a:picLocks noChangeAspect="1"/>
          </p:cNvPicPr>
          <p:nvPr/>
        </p:nvPicPr>
        <p:blipFill>
          <a:blip r:embed="rId2"/>
          <a:stretch>
            <a:fillRect/>
          </a:stretch>
        </p:blipFill>
        <p:spPr>
          <a:xfrm>
            <a:off x="4909718" y="2446020"/>
            <a:ext cx="411480" cy="411480"/>
          </a:xfrm>
          <a:prstGeom prst="rect">
            <a:avLst/>
          </a:prstGeom>
        </p:spPr>
      </p:pic>
      <p:sp>
        <p:nvSpPr>
          <p:cNvPr id="12" name="Karte 2 Titel"/>
          <p:cNvSpPr txBox="1"/>
          <p:nvPr/>
        </p:nvSpPr>
        <p:spPr>
          <a:xfrm>
            <a:off x="4703978"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Anonym</a:t>
            </a:r>
            <a:endParaRPr lang="en-US" sz="2600" dirty="0"/>
          </a:p>
        </p:txBody>
      </p:sp>
      <p:sp>
        <p:nvSpPr>
          <p:cNvPr id="13" name="Karte 2 Text"/>
          <p:cNvSpPr txBox="1"/>
          <p:nvPr/>
        </p:nvSpPr>
        <p:spPr>
          <a:xfrm>
            <a:off x="4703978"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Ich sehe nur Fantasienamen und Codes. Alle Daten bleiben in der EU.</a:t>
            </a:r>
            <a:endParaRPr lang="en-US" sz="1700" dirty="0"/>
          </a:p>
        </p:txBody>
      </p:sp>
      <p:sp>
        <p:nvSpPr>
          <p:cNvPr id="14" name="Karte 3"/>
          <p:cNvSpPr/>
          <p:nvPr/>
        </p:nvSpPr>
        <p:spPr>
          <a:xfrm>
            <a:off x="8127797" y="1874520"/>
            <a:ext cx="3515258" cy="4069080"/>
          </a:xfrm>
          <a:prstGeom prst="roundRect">
            <a:avLst>
              <a:gd name="adj" fmla="val 4682"/>
            </a:avLst>
          </a:prstGeom>
          <a:solidFill>
            <a:schemeClr val="bg2"/>
          </a:solidFill>
          <a:ln w="12700">
            <a:solidFill>
              <a:schemeClr val="accent4"/>
            </a:solidFill>
            <a:prstDash val="solid"/>
          </a:ln>
        </p:spPr>
      </p:sp>
      <p:sp>
        <p:nvSpPr>
          <p:cNvPr id="15" name="Karte 3 Icon Kreis"/>
          <p:cNvSpPr/>
          <p:nvPr/>
        </p:nvSpPr>
        <p:spPr>
          <a:xfrm>
            <a:off x="8493557" y="2240280"/>
            <a:ext cx="822960" cy="822960"/>
          </a:xfrm>
          <a:prstGeom prst="ellipse">
            <a:avLst/>
          </a:prstGeom>
          <a:solidFill>
            <a:schemeClr val="accent3"/>
          </a:solidFill>
          <a:ln/>
        </p:spPr>
      </p:sp>
      <p:pic>
        <p:nvPicPr>
          <p:cNvPr id="16" name="Karte 3 Icon" descr="preencoded.png">    </p:cNvPr>
          <p:cNvPicPr>
            <a:picLocks noChangeAspect="1"/>
          </p:cNvPicPr>
          <p:nvPr/>
        </p:nvPicPr>
        <p:blipFill>
          <a:blip r:embed="rId3"/>
          <a:stretch>
            <a:fillRect/>
          </a:stretch>
        </p:blipFill>
        <p:spPr>
          <a:xfrm>
            <a:off x="8699297" y="2446020"/>
            <a:ext cx="411480" cy="411480"/>
          </a:xfrm>
          <a:prstGeom prst="rect">
            <a:avLst/>
          </a:prstGeom>
        </p:spPr>
      </p:pic>
      <p:sp>
        <p:nvSpPr>
          <p:cNvPr id="17" name="Karte 3 Titel"/>
          <p:cNvSpPr txBox="1"/>
          <p:nvPr/>
        </p:nvSpPr>
        <p:spPr>
          <a:xfrm>
            <a:off x="8493557" y="3474720"/>
            <a:ext cx="2783738" cy="502920"/>
          </a:xfrm>
          <a:prstGeom prst="rect">
            <a:avLst/>
          </a:prstGeom>
          <a:noFill/>
          <a:ln/>
        </p:spPr>
        <p:txBody>
          <a:bodyPr wrap="square" lIns="0" tIns="0" rIns="0" bIns="0" rtlCol="0" anchor="t"/>
          <a:lstStyle/>
          <a:p>
            <a:pPr algn="l" indent="0" marL="0">
              <a:buNone/>
            </a:pPr>
            <a:r>
              <a:rPr lang="en-US" sz="2600" b="1" dirty="0">
                <a:solidFill>
                  <a:schemeClr val="tx1"/>
                </a:solidFill>
              </a:rPr>
              <a:t>Jederzeit raus</a:t>
            </a:r>
            <a:endParaRPr lang="en-US" sz="2600" dirty="0"/>
          </a:p>
        </p:txBody>
      </p:sp>
      <p:sp>
        <p:nvSpPr>
          <p:cNvPr id="18" name="Karte 3 Text"/>
          <p:cNvSpPr txBox="1"/>
          <p:nvPr/>
        </p:nvSpPr>
        <p:spPr>
          <a:xfrm>
            <a:off x="8493557" y="4114800"/>
            <a:ext cx="2783738" cy="1554480"/>
          </a:xfrm>
          <a:prstGeom prst="rect">
            <a:avLst/>
          </a:prstGeom>
          <a:noFill/>
          <a:ln/>
        </p:spPr>
        <p:txBody>
          <a:bodyPr wrap="square" lIns="0" tIns="0" rIns="0" bIns="0" rtlCol="0" anchor="t"/>
          <a:lstStyle/>
          <a:p>
            <a:pPr algn="l" indent="0" marL="0">
              <a:buNone/>
            </a:pPr>
            <a:r>
              <a:rPr lang="en-US" sz="1700" dirty="0">
                <a:solidFill>
                  <a:schemeClr val="tx2"/>
                </a:solidFill>
              </a:rPr>
              <a:t>„Teilnahme beenden“ löscht Konto, Einträge und Aufnahmen sofort.</a:t>
            </a:r>
            <a:endParaRPr lang="en-US" sz="1700" dirty="0"/>
          </a:p>
        </p:txBody>
      </p:sp>
      <p:sp>
        <p:nvSpPr>
          <p:cNvPr id="25" name="Slide Number Placeholder 0"/>
          <p:cNvSpPr>
            <a:spLocks noGrp="1"/>
          </p:cNvSpPr>
          <p:nvPr>
            <p:ph type="sldNum" sz="quarter" idx="4294967295"/>
          </p:nvPr>
        </p:nvSpPr>
        <p:spPr>
          <a:xfrm>
            <a:off x="10728655" y="6272784"/>
            <a:ext cx="914400" cy="32918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1783080"/>
            <a:ext cx="7315200" cy="310896"/>
          </a:xfrm>
          <a:prstGeom prst="rect">
            <a:avLst/>
          </a:prstGeom>
          <a:noFill/>
          <a:ln/>
        </p:spPr>
        <p:txBody>
          <a:bodyPr wrap="square" lIns="0" tIns="0" rIns="0" bIns="0" rtlCol="0" anchor="ctr"/>
          <a:lstStyle/>
          <a:p>
            <a:pPr algn="l" indent="0" marL="0">
              <a:buNone/>
            </a:pPr>
            <a:r>
              <a:rPr lang="en-US" sz="1300" b="1" spc="200" kern="0" dirty="0">
                <a:solidFill>
                  <a:schemeClr val="accent5"/>
                </a:solidFill>
              </a:rPr>
              <a:t>Jetzt starten</a:t>
            </a:r>
            <a:endParaRPr lang="en-US" sz="1300" dirty="0"/>
          </a:p>
        </p:txBody>
      </p:sp>
      <p:sp>
        <p:nvSpPr>
          <p:cNvPr id="3" name="Text 1"/>
          <p:cNvSpPr/>
          <p:nvPr>
            <p:ph idx="103" type="title" hasCustomPrompt="1"/>
          </p:nvPr>
        </p:nvSpPr>
        <p:spPr>
          <a:xfrm>
            <a:off x="548640" y="2194560"/>
            <a:ext cx="7132320" cy="1737360"/>
          </a:xfrm>
          <a:prstGeom prst="rect">
            <a:avLst/>
          </a:prstGeom>
          <a:noFill/>
          <a:ln/>
        </p:spPr>
        <p:txBody>
          <a:bodyPr wrap="square" lIns="0" tIns="0" rIns="0" bIns="0" rtlCol="0" anchor="t"/>
          <a:lstStyle/>
          <a:p>
            <a:pPr algn="l" indent="0" marL="0">
              <a:lnSpc>
                <a:spcPct val="90000"/>
              </a:lnSpc>
              <a:buNone/>
            </a:pPr>
            <a:r>
              <a:rPr lang="en-US" sz="9600" b="1" dirty="0">
                <a:solidFill>
                  <a:schemeClr val="accent5"/>
                </a:solidFill>
              </a:rPr>
              <a:t>Mach mit</a:t>
            </a:r>
            <a:endParaRPr lang="en-US" sz="9600" dirty="0"/>
          </a:p>
        </p:txBody>
      </p:sp>
      <p:sp>
        <p:nvSpPr>
          <p:cNvPr id="4" name="Text 1"/>
          <p:cNvSpPr/>
          <p:nvPr>
            <p:ph idx="104" type="body" hasCustomPrompt="1"/>
          </p:nvPr>
        </p:nvSpPr>
        <p:spPr>
          <a:xfrm>
            <a:off x="548640" y="4069080"/>
            <a:ext cx="6217920" cy="914400"/>
          </a:xfrm>
          <a:prstGeom prst="rect">
            <a:avLst/>
          </a:prstGeom>
          <a:noFill/>
          <a:ln/>
        </p:spPr>
        <p:txBody>
          <a:bodyPr wrap="square" lIns="0" tIns="0" rIns="0" bIns="0" rtlCol="0" anchor="t"/>
          <a:lstStyle/>
          <a:p>
            <a:pPr algn="l" indent="0" marL="0">
              <a:buNone/>
            </a:pPr>
            <a:r>
              <a:rPr lang="en-US" sz="2000" dirty="0">
                <a:solidFill>
                  <a:schemeClr val="accent5"/>
                </a:solidFill>
              </a:rPr>
              <a:t>Registrieren, Code bilden, fertig. Studienstart: [[Datum]]</a:t>
            </a:r>
            <a:endParaRPr lang="en-US" sz="2000" dirty="0"/>
          </a:p>
        </p:txBody>
      </p:sp>
      <p:sp>
        <p:nvSpPr>
          <p:cNvPr id="5" name="Text 1">
            <a:hlinkClick r:id="rId1" tooltip=""/>
          </p:cNvPr>
          <p:cNvSpPr/>
          <p:nvPr>
            <p:ph idx="105" type="body" hasCustomPrompt="1"/>
          </p:nvPr>
        </p:nvSpPr>
        <p:spPr>
          <a:xfrm>
            <a:off x="548640" y="5166360"/>
            <a:ext cx="6217920" cy="548640"/>
          </a:xfrm>
          <a:prstGeom prst="rect">
            <a:avLst/>
          </a:prstGeom>
          <a:noFill/>
          <a:ln/>
        </p:spPr>
        <p:txBody>
          <a:bodyPr wrap="square" lIns="0" tIns="0" rIns="0" bIns="0" rtlCol="0" anchor="t"/>
          <a:lstStyle/>
          <a:p>
            <a:pPr algn="l" indent="0" marL="0">
              <a:buNone/>
            </a:pPr>
            <a:r>
              <a:rPr lang="en-US" sz="2800" b="1" u="sng" dirty="0">
                <a:solidFill>
                  <a:schemeClr val="accent5"/>
                </a:solidFill>
                <a:hlinkClick r:id="rId1" invalidUrl="" action="" tgtFrame="" tooltip="" history="1" highlightClick="0" endSnd="0">
                  <a:extLst>
                    <a:ext uri="{A12FA001-AC4F-418D-AE19-62706E023703}">
                      <ahyp:hlinkClr xmlns:ahyp="http://schemas.microsoft.com/office/drawing/2018/hyperlinkcolor" val="tx"/>
                    </a:ext>
                  </a:extLst>
                </a:hlinkClick>
              </a:rPr>
              <a:t>limejournal.org</a:t>
            </a:r>
            <a:endParaRPr lang="en-US" sz="2800" dirty="0"/>
          </a:p>
        </p:txBody>
      </p:sp>
      <p:sp>
        <p:nvSpPr>
          <p:cNvPr id="6" name="Kontakt">
            <a:hlinkClick r:id="rId2" tooltip=""/>
          </p:cNvPr>
          <p:cNvSpPr txBox="1"/>
          <p:nvPr/>
        </p:nvSpPr>
        <p:spPr>
          <a:xfrm>
            <a:off x="548640" y="5806440"/>
            <a:ext cx="6217920" cy="365760"/>
          </a:xfrm>
          <a:prstGeom prst="rect">
            <a:avLst/>
          </a:prstGeom>
          <a:noFill/>
          <a:ln/>
        </p:spPr>
        <p:txBody>
          <a:bodyPr wrap="square" lIns="0" tIns="0" rIns="0" bIns="0" rtlCol="0" anchor="t"/>
          <a:lstStyle/>
          <a:p>
            <a:pPr algn="l" indent="0" marL="0">
              <a:buNone/>
            </a:pPr>
            <a:r>
              <a:rPr lang="en-US" sz="1600" u="sng" dirty="0">
                <a:solidFill>
                  <a:schemeClr val="accent5"/>
                </a:solidFill>
                <a:hlinkClick r:id="rId2" invalidUrl="" action="" tgtFrame="" tooltip="" history="1" highlightClick="0" endSnd="0">
                  <a:extLst>
                    <a:ext uri="{A12FA001-AC4F-418D-AE19-62706E023703}">
                      <ahyp:hlinkClr xmlns:ahyp="http://schemas.microsoft.com/office/drawing/2018/hyperlinkcolor" val="tx"/>
                    </a:ext>
                  </a:extLst>
                </a:hlinkClick>
              </a:rPr>
              <a:t>Fragen? johanna.heisgen@hwr-berlin.de</a:t>
            </a:r>
            <a:endParaRPr lang="en-US" sz="1600" dirty="0"/>
          </a:p>
        </p:txBody>
      </p:sp>
      <p:sp>
        <p:nvSpPr>
          <p:cNvPr id="7" name="QR-Karte"/>
          <p:cNvSpPr/>
          <p:nvPr/>
        </p:nvSpPr>
        <p:spPr>
          <a:xfrm>
            <a:off x="8183880" y="1463040"/>
            <a:ext cx="3291840" cy="3931920"/>
          </a:xfrm>
          <a:prstGeom prst="roundRect">
            <a:avLst>
              <a:gd name="adj" fmla="val 5000"/>
            </a:avLst>
          </a:prstGeom>
          <a:solidFill>
            <a:schemeClr val="bg2"/>
          </a:solidFill>
          <a:ln/>
        </p:spPr>
      </p:sp>
      <p:pic>
        <p:nvPicPr>
          <p:cNvPr id="8" name="QR-Code" descr="QR-Code zu limejournal.org">    </p:cNvPr>
          <p:cNvPicPr>
            <a:picLocks noChangeAspect="1"/>
          </p:cNvPicPr>
          <p:nvPr/>
        </p:nvPicPr>
        <p:blipFill>
          <a:blip r:embed="rId3"/>
          <a:stretch>
            <a:fillRect/>
          </a:stretch>
        </p:blipFill>
        <p:spPr>
          <a:xfrm>
            <a:off x="8595360" y="1874520"/>
            <a:ext cx="2468880" cy="2468880"/>
          </a:xfrm>
          <a:prstGeom prst="rect">
            <a:avLst/>
          </a:prstGeom>
        </p:spPr>
      </p:pic>
      <p:sp>
        <p:nvSpPr>
          <p:cNvPr id="9" name="QR-Hinweis"/>
          <p:cNvSpPr txBox="1"/>
          <p:nvPr/>
        </p:nvSpPr>
        <p:spPr>
          <a:xfrm>
            <a:off x="8183880" y="4617720"/>
            <a:ext cx="3291840" cy="548640"/>
          </a:xfrm>
          <a:prstGeom prst="rect">
            <a:avLst/>
          </a:prstGeom>
          <a:noFill/>
          <a:ln/>
        </p:spPr>
        <p:txBody>
          <a:bodyPr wrap="square" lIns="0" tIns="0" rIns="0" bIns="0" rtlCol="0" anchor="ctr"/>
          <a:lstStyle/>
          <a:p>
            <a:pPr algn="ctr" indent="0" marL="0">
              <a:buNone/>
            </a:pPr>
            <a:r>
              <a:rPr lang="en-US" sz="1500" b="1" dirty="0">
                <a:solidFill>
                  <a:schemeClr val="tx1"/>
                </a:solidFill>
              </a:rPr>
              <a:t>Scannen und registrieren</a:t>
            </a:r>
            <a:endParaRPr lang="en-US" sz="1500" dirty="0"/>
          </a:p>
        </p:txBody>
      </p:sp>
    </p:spTree>
  </p:cSld>
  <p:clrMapOvr>
    <a:masterClrMapping/>
  </p:clrMapOvr>
</p:sld>
</file>

<file path=ppt/theme/theme1.xml><?xml version="1.0" encoding="utf-8"?>
<a:theme xmlns:a="http://schemas.openxmlformats.org/drawingml/2006/main" name="LimeJournal">
  <a:themeElements>
    <a:clrScheme name="LimeJournal">
      <a:dk1>
        <a:srgbClr val="1F2430"/>
      </a:dk1>
      <a:lt1>
        <a:srgbClr val="FAF7F2"/>
      </a:lt1>
      <a:dk2>
        <a:srgbClr val="667085"/>
      </a:dk2>
      <a:lt2>
        <a:srgbClr val="FFFFFF"/>
      </a:lt2>
      <a:accent1>
        <a:srgbClr val="6FB337"/>
      </a:accent1>
      <a:accent2>
        <a:srgbClr val="3D7019"/>
      </a:accent2>
      <a:accent3>
        <a:srgbClr val="EDF6E3"/>
      </a:accent3>
      <a:accent4>
        <a:srgbClr val="E4DED4"/>
      </a:accent4>
      <a:accent5>
        <a:srgbClr val="1A2E0B"/>
      </a:accent5>
      <a:accent6>
        <a:srgbClr val="BFE031"/>
      </a:accent6>
      <a:hlink>
        <a:srgbClr val="3D7019"/>
      </a:hlink>
      <a:folHlink>
        <a:srgbClr val="667085"/>
      </a:folHlink>
    </a:clrScheme>
    <a:fontScheme name="LimeJour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LimeJournal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LimeJournal – Präsentationsvorlage</dc:title>
  <dc:subject>PptxGenJS Presentation</dc:subject>
  <dc:creator>LimeJournal</dc:creator>
  <cp:lastModifiedBy>LimeJournal</cp:lastModifiedBy>
  <cp:revision>1</cp:revision>
  <dcterms:created xsi:type="dcterms:W3CDTF">2026-10-26T04:50:06Z</dcterms:created>
  <dcterms:modified xsi:type="dcterms:W3CDTF">2026-10-26T04:50:06Z</dcterms:modified>
</cp:coreProperties>
</file>